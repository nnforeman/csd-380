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5DC581-923D-42A6-B519-6F4F096FBEA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F6D0BC1-3E5F-489F-B926-4A48988864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Clear coverage model: primary + secondary/backup with defined escalation timing</a:t>
          </a:r>
        </a:p>
      </dgm:t>
    </dgm:pt>
    <dgm:pt modelId="{C332FFF4-8898-4529-B9DA-D1439A213995}" type="parTrans" cxnId="{34134110-7F68-4470-8337-A8B524FA883E}">
      <dgm:prSet/>
      <dgm:spPr/>
      <dgm:t>
        <a:bodyPr/>
        <a:lstStyle/>
        <a:p>
          <a:endParaRPr lang="en-US"/>
        </a:p>
      </dgm:t>
    </dgm:pt>
    <dgm:pt modelId="{028DEBE0-A8A1-421E-AA66-B8CF3F3EE9E9}" type="sibTrans" cxnId="{34134110-7F68-4470-8337-A8B524FA883E}">
      <dgm:prSet/>
      <dgm:spPr/>
      <dgm:t>
        <a:bodyPr/>
        <a:lstStyle/>
        <a:p>
          <a:endParaRPr lang="en-US"/>
        </a:p>
      </dgm:t>
    </dgm:pt>
    <dgm:pt modelId="{1EAE3160-107B-4026-BE62-A66403BD7D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Reasonable shift length (often 1 week or shorter) and predictable handoff times</a:t>
          </a:r>
        </a:p>
      </dgm:t>
    </dgm:pt>
    <dgm:pt modelId="{E790F500-FE66-4E45-BE43-771F684F9B0A}" type="parTrans" cxnId="{C9314A32-2521-40CF-95BB-E175885465D9}">
      <dgm:prSet/>
      <dgm:spPr/>
      <dgm:t>
        <a:bodyPr/>
        <a:lstStyle/>
        <a:p>
          <a:endParaRPr lang="en-US"/>
        </a:p>
      </dgm:t>
    </dgm:pt>
    <dgm:pt modelId="{E37EAFD1-FC57-452B-933D-368A2E7A8D10}" type="sibTrans" cxnId="{C9314A32-2521-40CF-95BB-E175885465D9}">
      <dgm:prSet/>
      <dgm:spPr/>
      <dgm:t>
        <a:bodyPr/>
        <a:lstStyle/>
        <a:p>
          <a:endParaRPr lang="en-US"/>
        </a:p>
      </dgm:t>
    </dgm:pt>
    <dgm:pt modelId="{9B8F1E01-4D92-4084-985F-F166F63DBF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Fairness: rotate evenly, support swaps, and avoid back-to-back “crunch” coverage</a:t>
          </a:r>
        </a:p>
      </dgm:t>
    </dgm:pt>
    <dgm:pt modelId="{FEACB3EE-4E0B-4CF3-9FA7-546DF9333E86}" type="parTrans" cxnId="{825BE29D-540D-4E9D-A27D-7B4919AEC9A9}">
      <dgm:prSet/>
      <dgm:spPr/>
      <dgm:t>
        <a:bodyPr/>
        <a:lstStyle/>
        <a:p>
          <a:endParaRPr lang="en-US"/>
        </a:p>
      </dgm:t>
    </dgm:pt>
    <dgm:pt modelId="{8A0E022F-4303-4C69-AC4F-CA735905A375}" type="sibTrans" cxnId="{825BE29D-540D-4E9D-A27D-7B4919AEC9A9}">
      <dgm:prSet/>
      <dgm:spPr/>
      <dgm:t>
        <a:bodyPr/>
        <a:lstStyle/>
        <a:p>
          <a:endParaRPr lang="en-US"/>
        </a:p>
      </dgm:t>
    </dgm:pt>
    <dgm:pt modelId="{63E85744-4A42-4ED4-AAD9-7B42A4A709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 zones matter: schedule so responders are awake for most pages when possible</a:t>
          </a:r>
        </a:p>
      </dgm:t>
    </dgm:pt>
    <dgm:pt modelId="{C610DC8C-2D6A-47F1-A392-63C9FFA26246}" type="parTrans" cxnId="{AAD18AB1-B6C5-409F-A17C-4785AF621177}">
      <dgm:prSet/>
      <dgm:spPr/>
      <dgm:t>
        <a:bodyPr/>
        <a:lstStyle/>
        <a:p>
          <a:endParaRPr lang="en-US"/>
        </a:p>
      </dgm:t>
    </dgm:pt>
    <dgm:pt modelId="{5C44B939-112C-4AE4-BC94-7096B836ABEC}" type="sibTrans" cxnId="{AAD18AB1-B6C5-409F-A17C-4785AF621177}">
      <dgm:prSet/>
      <dgm:spPr/>
      <dgm:t>
        <a:bodyPr/>
        <a:lstStyle/>
        <a:p>
          <a:endParaRPr lang="en-US"/>
        </a:p>
      </dgm:t>
    </dgm:pt>
    <dgm:pt modelId="{022C782D-6A66-4915-944A-1035F497F0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111827"/>
              </a:solidFill>
            </a:rPr>
            <a:t>Provide recovery time after major incidents to reduce fatigue and mistakes</a:t>
          </a:r>
          <a:endParaRPr lang="en-US" dirty="0"/>
        </a:p>
      </dgm:t>
    </dgm:pt>
    <dgm:pt modelId="{7423034C-BC63-4625-B5A2-B61B2B7358DE}" type="parTrans" cxnId="{513457FC-F4F6-46AE-A7D1-858CA0AA26E1}">
      <dgm:prSet/>
      <dgm:spPr/>
      <dgm:t>
        <a:bodyPr/>
        <a:lstStyle/>
        <a:p>
          <a:endParaRPr lang="en-US"/>
        </a:p>
      </dgm:t>
    </dgm:pt>
    <dgm:pt modelId="{4317601F-7FAE-4582-8EE2-3D7CCED95336}" type="sibTrans" cxnId="{513457FC-F4F6-46AE-A7D1-858CA0AA26E1}">
      <dgm:prSet/>
      <dgm:spPr/>
      <dgm:t>
        <a:bodyPr/>
        <a:lstStyle/>
        <a:p>
          <a:endParaRPr lang="en-US"/>
        </a:p>
      </dgm:t>
    </dgm:pt>
    <dgm:pt modelId="{E333A454-1707-4602-B27F-4006D1F38B7F}" type="pres">
      <dgm:prSet presAssocID="{E55DC581-923D-42A6-B519-6F4F096FBEA3}" presName="root" presStyleCnt="0">
        <dgm:presLayoutVars>
          <dgm:dir/>
          <dgm:resizeHandles val="exact"/>
        </dgm:presLayoutVars>
      </dgm:prSet>
      <dgm:spPr/>
    </dgm:pt>
    <dgm:pt modelId="{79861DA7-2080-40B3-93CE-842790E8FE0B}" type="pres">
      <dgm:prSet presAssocID="{5F6D0BC1-3E5F-489F-B926-4A48988864FB}" presName="compNode" presStyleCnt="0"/>
      <dgm:spPr/>
    </dgm:pt>
    <dgm:pt modelId="{CF4342FD-952E-456B-A607-F292AC914AE2}" type="pres">
      <dgm:prSet presAssocID="{5F6D0BC1-3E5F-489F-B926-4A48988864FB}" presName="bgRect" presStyleLbl="bgShp" presStyleIdx="0" presStyleCnt="5"/>
      <dgm:spPr/>
    </dgm:pt>
    <dgm:pt modelId="{BB27866E-FB06-4F22-B5DF-BC44C6571B0B}" type="pres">
      <dgm:prSet presAssocID="{5F6D0BC1-3E5F-489F-B926-4A48988864F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504E7965-F609-4B9F-8B6B-83DA7606AFF5}" type="pres">
      <dgm:prSet presAssocID="{5F6D0BC1-3E5F-489F-B926-4A48988864FB}" presName="spaceRect" presStyleCnt="0"/>
      <dgm:spPr/>
    </dgm:pt>
    <dgm:pt modelId="{176B096D-DCDC-4829-93B8-437CF1E90F71}" type="pres">
      <dgm:prSet presAssocID="{5F6D0BC1-3E5F-489F-B926-4A48988864FB}" presName="parTx" presStyleLbl="revTx" presStyleIdx="0" presStyleCnt="5">
        <dgm:presLayoutVars>
          <dgm:chMax val="0"/>
          <dgm:chPref val="0"/>
        </dgm:presLayoutVars>
      </dgm:prSet>
      <dgm:spPr/>
    </dgm:pt>
    <dgm:pt modelId="{5DBBA453-D069-430D-9AD9-01CC0DAFE228}" type="pres">
      <dgm:prSet presAssocID="{028DEBE0-A8A1-421E-AA66-B8CF3F3EE9E9}" presName="sibTrans" presStyleCnt="0"/>
      <dgm:spPr/>
    </dgm:pt>
    <dgm:pt modelId="{4BF790B7-41AD-431A-9D23-D6550A27FFAA}" type="pres">
      <dgm:prSet presAssocID="{1EAE3160-107B-4026-BE62-A66403BD7D51}" presName="compNode" presStyleCnt="0"/>
      <dgm:spPr/>
    </dgm:pt>
    <dgm:pt modelId="{FCB0A17A-E6F0-4490-9A25-EB693995F2AE}" type="pres">
      <dgm:prSet presAssocID="{1EAE3160-107B-4026-BE62-A66403BD7D51}" presName="bgRect" presStyleLbl="bgShp" presStyleIdx="1" presStyleCnt="5"/>
      <dgm:spPr/>
    </dgm:pt>
    <dgm:pt modelId="{67C0FAB3-4236-47A9-9C83-56D9CBE48174}" type="pres">
      <dgm:prSet presAssocID="{1EAE3160-107B-4026-BE62-A66403BD7D5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583A237-5BDB-499C-93ED-B20D2FBBBD07}" type="pres">
      <dgm:prSet presAssocID="{1EAE3160-107B-4026-BE62-A66403BD7D51}" presName="spaceRect" presStyleCnt="0"/>
      <dgm:spPr/>
    </dgm:pt>
    <dgm:pt modelId="{AAE8B713-86AE-472E-A2A8-332CCB3F9DF7}" type="pres">
      <dgm:prSet presAssocID="{1EAE3160-107B-4026-BE62-A66403BD7D51}" presName="parTx" presStyleLbl="revTx" presStyleIdx="1" presStyleCnt="5">
        <dgm:presLayoutVars>
          <dgm:chMax val="0"/>
          <dgm:chPref val="0"/>
        </dgm:presLayoutVars>
      </dgm:prSet>
      <dgm:spPr/>
    </dgm:pt>
    <dgm:pt modelId="{B07F104A-3CC6-4E5B-9B58-00BBAC7B2984}" type="pres">
      <dgm:prSet presAssocID="{E37EAFD1-FC57-452B-933D-368A2E7A8D10}" presName="sibTrans" presStyleCnt="0"/>
      <dgm:spPr/>
    </dgm:pt>
    <dgm:pt modelId="{1DD84D10-AB6E-437C-8912-3A8EB5485E38}" type="pres">
      <dgm:prSet presAssocID="{9B8F1E01-4D92-4084-985F-F166F63DBF85}" presName="compNode" presStyleCnt="0"/>
      <dgm:spPr/>
    </dgm:pt>
    <dgm:pt modelId="{E99CCCA0-2709-4C51-84D2-9760418C803D}" type="pres">
      <dgm:prSet presAssocID="{9B8F1E01-4D92-4084-985F-F166F63DBF85}" presName="bgRect" presStyleLbl="bgShp" presStyleIdx="2" presStyleCnt="5"/>
      <dgm:spPr/>
    </dgm:pt>
    <dgm:pt modelId="{B14E98B8-591D-4FBC-8BA5-9C69356975A9}" type="pres">
      <dgm:prSet presAssocID="{9B8F1E01-4D92-4084-985F-F166F63DBF8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600DA28A-16C8-4498-BA2E-9F317B4938CB}" type="pres">
      <dgm:prSet presAssocID="{9B8F1E01-4D92-4084-985F-F166F63DBF85}" presName="spaceRect" presStyleCnt="0"/>
      <dgm:spPr/>
    </dgm:pt>
    <dgm:pt modelId="{49E403D1-2104-438F-BE46-351B2354471D}" type="pres">
      <dgm:prSet presAssocID="{9B8F1E01-4D92-4084-985F-F166F63DBF85}" presName="parTx" presStyleLbl="revTx" presStyleIdx="2" presStyleCnt="5">
        <dgm:presLayoutVars>
          <dgm:chMax val="0"/>
          <dgm:chPref val="0"/>
        </dgm:presLayoutVars>
      </dgm:prSet>
      <dgm:spPr/>
    </dgm:pt>
    <dgm:pt modelId="{9C89C4D0-1F0C-4451-8F81-803EF1DB1785}" type="pres">
      <dgm:prSet presAssocID="{8A0E022F-4303-4C69-AC4F-CA735905A375}" presName="sibTrans" presStyleCnt="0"/>
      <dgm:spPr/>
    </dgm:pt>
    <dgm:pt modelId="{4FE27535-AD79-4238-88A7-E9CE5368BBC8}" type="pres">
      <dgm:prSet presAssocID="{022C782D-6A66-4915-944A-1035F497F06A}" presName="compNode" presStyleCnt="0"/>
      <dgm:spPr/>
    </dgm:pt>
    <dgm:pt modelId="{B1027695-B97A-4CAF-87CB-7F15349E12F5}" type="pres">
      <dgm:prSet presAssocID="{022C782D-6A66-4915-944A-1035F497F06A}" presName="bgRect" presStyleLbl="bgShp" presStyleIdx="3" presStyleCnt="5"/>
      <dgm:spPr/>
    </dgm:pt>
    <dgm:pt modelId="{D0A5B8EB-9BFA-4EB6-AB00-5D98C47AF11F}" type="pres">
      <dgm:prSet presAssocID="{022C782D-6A66-4915-944A-1035F497F06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53EAE122-8730-4073-AB6E-CE0B2A83F4F3}" type="pres">
      <dgm:prSet presAssocID="{022C782D-6A66-4915-944A-1035F497F06A}" presName="spaceRect" presStyleCnt="0"/>
      <dgm:spPr/>
    </dgm:pt>
    <dgm:pt modelId="{BB287F93-329D-4216-A4F5-7E9E49A6156B}" type="pres">
      <dgm:prSet presAssocID="{022C782D-6A66-4915-944A-1035F497F06A}" presName="parTx" presStyleLbl="revTx" presStyleIdx="3" presStyleCnt="5">
        <dgm:presLayoutVars>
          <dgm:chMax val="0"/>
          <dgm:chPref val="0"/>
        </dgm:presLayoutVars>
      </dgm:prSet>
      <dgm:spPr/>
    </dgm:pt>
    <dgm:pt modelId="{C8D41045-E74A-4D72-84D2-93380CA442D2}" type="pres">
      <dgm:prSet presAssocID="{4317601F-7FAE-4582-8EE2-3D7CCED95336}" presName="sibTrans" presStyleCnt="0"/>
      <dgm:spPr/>
    </dgm:pt>
    <dgm:pt modelId="{75FD4111-8454-436A-94A3-85A61DE022E0}" type="pres">
      <dgm:prSet presAssocID="{63E85744-4A42-4ED4-AAD9-7B42A4A7095D}" presName="compNode" presStyleCnt="0"/>
      <dgm:spPr/>
    </dgm:pt>
    <dgm:pt modelId="{1934A0E4-7529-4F2C-88E6-95C1870D92A5}" type="pres">
      <dgm:prSet presAssocID="{63E85744-4A42-4ED4-AAD9-7B42A4A7095D}" presName="bgRect" presStyleLbl="bgShp" presStyleIdx="4" presStyleCnt="5"/>
      <dgm:spPr/>
    </dgm:pt>
    <dgm:pt modelId="{0A7C6D91-5649-44B6-8111-BC516EFA63F3}" type="pres">
      <dgm:prSet presAssocID="{63E85744-4A42-4ED4-AAD9-7B42A4A7095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 outline"/>
        </a:ext>
      </dgm:extLst>
    </dgm:pt>
    <dgm:pt modelId="{98DA3AE2-CB73-4260-8233-309DA156A553}" type="pres">
      <dgm:prSet presAssocID="{63E85744-4A42-4ED4-AAD9-7B42A4A7095D}" presName="spaceRect" presStyleCnt="0"/>
      <dgm:spPr/>
    </dgm:pt>
    <dgm:pt modelId="{BD7473A0-AA4F-4B3D-BCDC-3BE4ADCBB539}" type="pres">
      <dgm:prSet presAssocID="{63E85744-4A42-4ED4-AAD9-7B42A4A7095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2813F03-8232-441D-953D-D7ABFF70BDFD}" type="presOf" srcId="{9B8F1E01-4D92-4084-985F-F166F63DBF85}" destId="{49E403D1-2104-438F-BE46-351B2354471D}" srcOrd="0" destOrd="0" presId="urn:microsoft.com/office/officeart/2018/2/layout/IconVerticalSolidList"/>
    <dgm:cxn modelId="{2DDC850F-EAF7-4127-BCF9-70F1150932F2}" type="presOf" srcId="{E55DC581-923D-42A6-B519-6F4F096FBEA3}" destId="{E333A454-1707-4602-B27F-4006D1F38B7F}" srcOrd="0" destOrd="0" presId="urn:microsoft.com/office/officeart/2018/2/layout/IconVerticalSolidList"/>
    <dgm:cxn modelId="{34134110-7F68-4470-8337-A8B524FA883E}" srcId="{E55DC581-923D-42A6-B519-6F4F096FBEA3}" destId="{5F6D0BC1-3E5F-489F-B926-4A48988864FB}" srcOrd="0" destOrd="0" parTransId="{C332FFF4-8898-4529-B9DA-D1439A213995}" sibTransId="{028DEBE0-A8A1-421E-AA66-B8CF3F3EE9E9}"/>
    <dgm:cxn modelId="{5B1A1132-BCE1-4D0B-ABA2-53B3A10BD6D8}" type="presOf" srcId="{5F6D0BC1-3E5F-489F-B926-4A48988864FB}" destId="{176B096D-DCDC-4829-93B8-437CF1E90F71}" srcOrd="0" destOrd="0" presId="urn:microsoft.com/office/officeart/2018/2/layout/IconVerticalSolidList"/>
    <dgm:cxn modelId="{C9314A32-2521-40CF-95BB-E175885465D9}" srcId="{E55DC581-923D-42A6-B519-6F4F096FBEA3}" destId="{1EAE3160-107B-4026-BE62-A66403BD7D51}" srcOrd="1" destOrd="0" parTransId="{E790F500-FE66-4E45-BE43-771F684F9B0A}" sibTransId="{E37EAFD1-FC57-452B-933D-368A2E7A8D10}"/>
    <dgm:cxn modelId="{590A3299-52D5-417B-BAAE-655861588DD6}" type="presOf" srcId="{1EAE3160-107B-4026-BE62-A66403BD7D51}" destId="{AAE8B713-86AE-472E-A2A8-332CCB3F9DF7}" srcOrd="0" destOrd="0" presId="urn:microsoft.com/office/officeart/2018/2/layout/IconVerticalSolidList"/>
    <dgm:cxn modelId="{825BE29D-540D-4E9D-A27D-7B4919AEC9A9}" srcId="{E55DC581-923D-42A6-B519-6F4F096FBEA3}" destId="{9B8F1E01-4D92-4084-985F-F166F63DBF85}" srcOrd="2" destOrd="0" parTransId="{FEACB3EE-4E0B-4CF3-9FA7-546DF9333E86}" sibTransId="{8A0E022F-4303-4C69-AC4F-CA735905A375}"/>
    <dgm:cxn modelId="{AAD18AB1-B6C5-409F-A17C-4785AF621177}" srcId="{E55DC581-923D-42A6-B519-6F4F096FBEA3}" destId="{63E85744-4A42-4ED4-AAD9-7B42A4A7095D}" srcOrd="4" destOrd="0" parTransId="{C610DC8C-2D6A-47F1-A392-63C9FFA26246}" sibTransId="{5C44B939-112C-4AE4-BC94-7096B836ABEC}"/>
    <dgm:cxn modelId="{6178FDCF-13FE-46E9-98A7-9A78EF29AF85}" type="presOf" srcId="{63E85744-4A42-4ED4-AAD9-7B42A4A7095D}" destId="{BD7473A0-AA4F-4B3D-BCDC-3BE4ADCBB539}" srcOrd="0" destOrd="0" presId="urn:microsoft.com/office/officeart/2018/2/layout/IconVerticalSolidList"/>
    <dgm:cxn modelId="{01C11EE9-33CC-4613-A263-BED09881EA8C}" type="presOf" srcId="{022C782D-6A66-4915-944A-1035F497F06A}" destId="{BB287F93-329D-4216-A4F5-7E9E49A6156B}" srcOrd="0" destOrd="0" presId="urn:microsoft.com/office/officeart/2018/2/layout/IconVerticalSolidList"/>
    <dgm:cxn modelId="{513457FC-F4F6-46AE-A7D1-858CA0AA26E1}" srcId="{E55DC581-923D-42A6-B519-6F4F096FBEA3}" destId="{022C782D-6A66-4915-944A-1035F497F06A}" srcOrd="3" destOrd="0" parTransId="{7423034C-BC63-4625-B5A2-B61B2B7358DE}" sibTransId="{4317601F-7FAE-4582-8EE2-3D7CCED95336}"/>
    <dgm:cxn modelId="{61B6A178-9628-42D5-BF07-0D126398FAC4}" type="presParOf" srcId="{E333A454-1707-4602-B27F-4006D1F38B7F}" destId="{79861DA7-2080-40B3-93CE-842790E8FE0B}" srcOrd="0" destOrd="0" presId="urn:microsoft.com/office/officeart/2018/2/layout/IconVerticalSolidList"/>
    <dgm:cxn modelId="{6C1FD54E-915A-4A2E-AAF6-084059D18C93}" type="presParOf" srcId="{79861DA7-2080-40B3-93CE-842790E8FE0B}" destId="{CF4342FD-952E-456B-A607-F292AC914AE2}" srcOrd="0" destOrd="0" presId="urn:microsoft.com/office/officeart/2018/2/layout/IconVerticalSolidList"/>
    <dgm:cxn modelId="{3C8F2E3E-017D-4F21-8563-7AD7ABF4F98A}" type="presParOf" srcId="{79861DA7-2080-40B3-93CE-842790E8FE0B}" destId="{BB27866E-FB06-4F22-B5DF-BC44C6571B0B}" srcOrd="1" destOrd="0" presId="urn:microsoft.com/office/officeart/2018/2/layout/IconVerticalSolidList"/>
    <dgm:cxn modelId="{287BA870-7928-4AA4-A7AD-8CEC1E42E1EA}" type="presParOf" srcId="{79861DA7-2080-40B3-93CE-842790E8FE0B}" destId="{504E7965-F609-4B9F-8B6B-83DA7606AFF5}" srcOrd="2" destOrd="0" presId="urn:microsoft.com/office/officeart/2018/2/layout/IconVerticalSolidList"/>
    <dgm:cxn modelId="{E73F7B21-91F4-444B-8A4E-15B849D5F060}" type="presParOf" srcId="{79861DA7-2080-40B3-93CE-842790E8FE0B}" destId="{176B096D-DCDC-4829-93B8-437CF1E90F71}" srcOrd="3" destOrd="0" presId="urn:microsoft.com/office/officeart/2018/2/layout/IconVerticalSolidList"/>
    <dgm:cxn modelId="{3657E635-7535-4927-B7C3-95F501855806}" type="presParOf" srcId="{E333A454-1707-4602-B27F-4006D1F38B7F}" destId="{5DBBA453-D069-430D-9AD9-01CC0DAFE228}" srcOrd="1" destOrd="0" presId="urn:microsoft.com/office/officeart/2018/2/layout/IconVerticalSolidList"/>
    <dgm:cxn modelId="{985A7675-FD1A-4E4A-9F58-C33797729B16}" type="presParOf" srcId="{E333A454-1707-4602-B27F-4006D1F38B7F}" destId="{4BF790B7-41AD-431A-9D23-D6550A27FFAA}" srcOrd="2" destOrd="0" presId="urn:microsoft.com/office/officeart/2018/2/layout/IconVerticalSolidList"/>
    <dgm:cxn modelId="{3DDE95D5-F16A-4013-94D5-2E9A94413BDC}" type="presParOf" srcId="{4BF790B7-41AD-431A-9D23-D6550A27FFAA}" destId="{FCB0A17A-E6F0-4490-9A25-EB693995F2AE}" srcOrd="0" destOrd="0" presId="urn:microsoft.com/office/officeart/2018/2/layout/IconVerticalSolidList"/>
    <dgm:cxn modelId="{B1EBD356-EE5A-4897-BF67-AAABD37F33E6}" type="presParOf" srcId="{4BF790B7-41AD-431A-9D23-D6550A27FFAA}" destId="{67C0FAB3-4236-47A9-9C83-56D9CBE48174}" srcOrd="1" destOrd="0" presId="urn:microsoft.com/office/officeart/2018/2/layout/IconVerticalSolidList"/>
    <dgm:cxn modelId="{C9B14FAA-773B-49B8-B171-125881C4B15E}" type="presParOf" srcId="{4BF790B7-41AD-431A-9D23-D6550A27FFAA}" destId="{7583A237-5BDB-499C-93ED-B20D2FBBBD07}" srcOrd="2" destOrd="0" presId="urn:microsoft.com/office/officeart/2018/2/layout/IconVerticalSolidList"/>
    <dgm:cxn modelId="{0412E085-23C8-4B84-9AD8-81A690521D47}" type="presParOf" srcId="{4BF790B7-41AD-431A-9D23-D6550A27FFAA}" destId="{AAE8B713-86AE-472E-A2A8-332CCB3F9DF7}" srcOrd="3" destOrd="0" presId="urn:microsoft.com/office/officeart/2018/2/layout/IconVerticalSolidList"/>
    <dgm:cxn modelId="{EED17191-31C2-4652-BAA9-2323DED43E77}" type="presParOf" srcId="{E333A454-1707-4602-B27F-4006D1F38B7F}" destId="{B07F104A-3CC6-4E5B-9B58-00BBAC7B2984}" srcOrd="3" destOrd="0" presId="urn:microsoft.com/office/officeart/2018/2/layout/IconVerticalSolidList"/>
    <dgm:cxn modelId="{F5BCF673-8510-421F-B27C-89759827CACA}" type="presParOf" srcId="{E333A454-1707-4602-B27F-4006D1F38B7F}" destId="{1DD84D10-AB6E-437C-8912-3A8EB5485E38}" srcOrd="4" destOrd="0" presId="urn:microsoft.com/office/officeart/2018/2/layout/IconVerticalSolidList"/>
    <dgm:cxn modelId="{67F0C823-3A0D-4B2E-8CF3-661F5204B81C}" type="presParOf" srcId="{1DD84D10-AB6E-437C-8912-3A8EB5485E38}" destId="{E99CCCA0-2709-4C51-84D2-9760418C803D}" srcOrd="0" destOrd="0" presId="urn:microsoft.com/office/officeart/2018/2/layout/IconVerticalSolidList"/>
    <dgm:cxn modelId="{14276C1C-4E06-42A1-AA78-14940FCAD7D7}" type="presParOf" srcId="{1DD84D10-AB6E-437C-8912-3A8EB5485E38}" destId="{B14E98B8-591D-4FBC-8BA5-9C69356975A9}" srcOrd="1" destOrd="0" presId="urn:microsoft.com/office/officeart/2018/2/layout/IconVerticalSolidList"/>
    <dgm:cxn modelId="{494A3516-57E7-4DB5-84C8-2DEFFE779160}" type="presParOf" srcId="{1DD84D10-AB6E-437C-8912-3A8EB5485E38}" destId="{600DA28A-16C8-4498-BA2E-9F317B4938CB}" srcOrd="2" destOrd="0" presId="urn:microsoft.com/office/officeart/2018/2/layout/IconVerticalSolidList"/>
    <dgm:cxn modelId="{379089FF-AB4F-4BB7-A623-E129BF8E0BE5}" type="presParOf" srcId="{1DD84D10-AB6E-437C-8912-3A8EB5485E38}" destId="{49E403D1-2104-438F-BE46-351B2354471D}" srcOrd="3" destOrd="0" presId="urn:microsoft.com/office/officeart/2018/2/layout/IconVerticalSolidList"/>
    <dgm:cxn modelId="{F16994F3-BFC6-423F-BE61-ADBF46456AC1}" type="presParOf" srcId="{E333A454-1707-4602-B27F-4006D1F38B7F}" destId="{9C89C4D0-1F0C-4451-8F81-803EF1DB1785}" srcOrd="5" destOrd="0" presId="urn:microsoft.com/office/officeart/2018/2/layout/IconVerticalSolidList"/>
    <dgm:cxn modelId="{4697F404-A639-44E1-BCD7-FA6762E65549}" type="presParOf" srcId="{E333A454-1707-4602-B27F-4006D1F38B7F}" destId="{4FE27535-AD79-4238-88A7-E9CE5368BBC8}" srcOrd="6" destOrd="0" presId="urn:microsoft.com/office/officeart/2018/2/layout/IconVerticalSolidList"/>
    <dgm:cxn modelId="{7FAE4820-7BE8-44A9-80E2-9782B6D62D13}" type="presParOf" srcId="{4FE27535-AD79-4238-88A7-E9CE5368BBC8}" destId="{B1027695-B97A-4CAF-87CB-7F15349E12F5}" srcOrd="0" destOrd="0" presId="urn:microsoft.com/office/officeart/2018/2/layout/IconVerticalSolidList"/>
    <dgm:cxn modelId="{A7EB095D-1B57-43F2-AB9E-EA5D71C8AB4A}" type="presParOf" srcId="{4FE27535-AD79-4238-88A7-E9CE5368BBC8}" destId="{D0A5B8EB-9BFA-4EB6-AB00-5D98C47AF11F}" srcOrd="1" destOrd="0" presId="urn:microsoft.com/office/officeart/2018/2/layout/IconVerticalSolidList"/>
    <dgm:cxn modelId="{46974BAC-38E4-43F9-A463-3A546CC7E559}" type="presParOf" srcId="{4FE27535-AD79-4238-88A7-E9CE5368BBC8}" destId="{53EAE122-8730-4073-AB6E-CE0B2A83F4F3}" srcOrd="2" destOrd="0" presId="urn:microsoft.com/office/officeart/2018/2/layout/IconVerticalSolidList"/>
    <dgm:cxn modelId="{12D6DAE7-0D1E-4C39-BAE1-932585ED2114}" type="presParOf" srcId="{4FE27535-AD79-4238-88A7-E9CE5368BBC8}" destId="{BB287F93-329D-4216-A4F5-7E9E49A6156B}" srcOrd="3" destOrd="0" presId="urn:microsoft.com/office/officeart/2018/2/layout/IconVerticalSolidList"/>
    <dgm:cxn modelId="{DAED10DB-AB8B-4579-9D06-595BEFECD3DB}" type="presParOf" srcId="{E333A454-1707-4602-B27F-4006D1F38B7F}" destId="{C8D41045-E74A-4D72-84D2-93380CA442D2}" srcOrd="7" destOrd="0" presId="urn:microsoft.com/office/officeart/2018/2/layout/IconVerticalSolidList"/>
    <dgm:cxn modelId="{12918BF5-F5D4-49C6-A061-B8981C651607}" type="presParOf" srcId="{E333A454-1707-4602-B27F-4006D1F38B7F}" destId="{75FD4111-8454-436A-94A3-85A61DE022E0}" srcOrd="8" destOrd="0" presId="urn:microsoft.com/office/officeart/2018/2/layout/IconVerticalSolidList"/>
    <dgm:cxn modelId="{CE376F92-5D8B-4556-972B-43957071BFA9}" type="presParOf" srcId="{75FD4111-8454-436A-94A3-85A61DE022E0}" destId="{1934A0E4-7529-4F2C-88E6-95C1870D92A5}" srcOrd="0" destOrd="0" presId="urn:microsoft.com/office/officeart/2018/2/layout/IconVerticalSolidList"/>
    <dgm:cxn modelId="{66392CB9-7D28-418F-B26E-7683E8B018FA}" type="presParOf" srcId="{75FD4111-8454-436A-94A3-85A61DE022E0}" destId="{0A7C6D91-5649-44B6-8111-BC516EFA63F3}" srcOrd="1" destOrd="0" presId="urn:microsoft.com/office/officeart/2018/2/layout/IconVerticalSolidList"/>
    <dgm:cxn modelId="{841E957D-2628-466B-9744-BCC2C83D9F67}" type="presParOf" srcId="{75FD4111-8454-436A-94A3-85A61DE022E0}" destId="{98DA3AE2-CB73-4260-8233-309DA156A553}" srcOrd="2" destOrd="0" presId="urn:microsoft.com/office/officeart/2018/2/layout/IconVerticalSolidList"/>
    <dgm:cxn modelId="{B3D0A7FD-CB6A-4CB7-8A12-87D40C387D7B}" type="presParOf" srcId="{75FD4111-8454-436A-94A3-85A61DE022E0}" destId="{BD7473A0-AA4F-4B3D-BCDC-3BE4ADCBB53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F97715-8C8E-4EAD-8FFE-0EE6EE7DF9F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35B2D4A-18D5-4ABB-AF5C-C3121139639C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111827"/>
              </a:solidFill>
            </a:rPr>
            <a:t>Tune thresholds and use multi-signal alerts (e.g., error rate + latency) to avoid flapping</a:t>
          </a:r>
          <a:endParaRPr lang="en-US" dirty="0"/>
        </a:p>
      </dgm:t>
    </dgm:pt>
    <dgm:pt modelId="{89CBC67A-499C-4416-93CC-265996B902F3}" type="parTrans" cxnId="{D8E5C70F-A493-430D-86DD-7B7766569EA1}">
      <dgm:prSet/>
      <dgm:spPr/>
      <dgm:t>
        <a:bodyPr/>
        <a:lstStyle/>
        <a:p>
          <a:endParaRPr lang="en-US"/>
        </a:p>
      </dgm:t>
    </dgm:pt>
    <dgm:pt modelId="{6FC9A508-5DD4-4926-B37B-50DEE90C6752}" type="sibTrans" cxnId="{D8E5C70F-A493-430D-86DD-7B7766569EA1}">
      <dgm:prSet/>
      <dgm:spPr/>
      <dgm:t>
        <a:bodyPr/>
        <a:lstStyle/>
        <a:p>
          <a:endParaRPr lang="en-US"/>
        </a:p>
      </dgm:t>
    </dgm:pt>
    <dgm:pt modelId="{4CAEA30D-2840-49D0-91A4-2BE83399BF01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111827"/>
              </a:solidFill>
            </a:rPr>
            <a:t>Track alert volume per person/shift and treat noisy alerts as defects to fix</a:t>
          </a:r>
          <a:endParaRPr lang="en-US" dirty="0"/>
        </a:p>
      </dgm:t>
    </dgm:pt>
    <dgm:pt modelId="{67208CCF-29F8-42A4-A850-89206EC5B879}" type="parTrans" cxnId="{59DFB0AF-9288-451E-8769-80C47B5C7AF2}">
      <dgm:prSet/>
      <dgm:spPr/>
      <dgm:t>
        <a:bodyPr/>
        <a:lstStyle/>
        <a:p>
          <a:endParaRPr lang="en-US"/>
        </a:p>
      </dgm:t>
    </dgm:pt>
    <dgm:pt modelId="{0662EFB5-1AF3-4670-B4E8-A356A01A5A30}" type="sibTrans" cxnId="{59DFB0AF-9288-451E-8769-80C47B5C7AF2}">
      <dgm:prSet/>
      <dgm:spPr/>
      <dgm:t>
        <a:bodyPr/>
        <a:lstStyle/>
        <a:p>
          <a:endParaRPr lang="en-US"/>
        </a:p>
      </dgm:t>
    </dgm:pt>
    <dgm:pt modelId="{1D4CBB8A-58A0-4944-8227-BD8CFBE1377C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111827"/>
              </a:solidFill>
            </a:rPr>
            <a:t>Use runbooks/automation for common remediations to shorten time-to-mitigate</a:t>
          </a:r>
          <a:endParaRPr lang="en-US" dirty="0"/>
        </a:p>
      </dgm:t>
    </dgm:pt>
    <dgm:pt modelId="{E18FCA25-B9E4-4318-86C2-4F29266306B5}" type="parTrans" cxnId="{6A519C80-DB25-4E96-A838-96D85F9B628C}">
      <dgm:prSet/>
      <dgm:spPr/>
      <dgm:t>
        <a:bodyPr/>
        <a:lstStyle/>
        <a:p>
          <a:endParaRPr lang="en-US"/>
        </a:p>
      </dgm:t>
    </dgm:pt>
    <dgm:pt modelId="{C7C198BC-AA77-4994-B7D6-7A3E04B8B556}" type="sibTrans" cxnId="{6A519C80-DB25-4E96-A838-96D85F9B628C}">
      <dgm:prSet/>
      <dgm:spPr/>
      <dgm:t>
        <a:bodyPr/>
        <a:lstStyle/>
        <a:p>
          <a:endParaRPr lang="en-US"/>
        </a:p>
      </dgm:t>
    </dgm:pt>
    <dgm:pt modelId="{8EBD1A6A-B116-4C88-9F2D-4E46C8D8196A}" type="pres">
      <dgm:prSet presAssocID="{FDF97715-8C8E-4EAD-8FFE-0EE6EE7DF9F6}" presName="root" presStyleCnt="0">
        <dgm:presLayoutVars>
          <dgm:dir/>
          <dgm:resizeHandles val="exact"/>
        </dgm:presLayoutVars>
      </dgm:prSet>
      <dgm:spPr/>
    </dgm:pt>
    <dgm:pt modelId="{9583E894-2C30-4DD0-B854-FC7243BC5D50}" type="pres">
      <dgm:prSet presAssocID="{735B2D4A-18D5-4ABB-AF5C-C3121139639C}" presName="compNode" presStyleCnt="0"/>
      <dgm:spPr/>
    </dgm:pt>
    <dgm:pt modelId="{0744917D-6123-4AEE-A8FF-B9F9CF489C1C}" type="pres">
      <dgm:prSet presAssocID="{735B2D4A-18D5-4ABB-AF5C-C3121139639C}" presName="iconBgRect" presStyleLbl="bgShp" presStyleIdx="0" presStyleCnt="3"/>
      <dgm:spPr/>
    </dgm:pt>
    <dgm:pt modelId="{735C4C55-E25F-428D-8E1F-716221A1A90F}" type="pres">
      <dgm:prSet presAssocID="{735B2D4A-18D5-4ABB-AF5C-C312113963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E038FE4-E8C4-41D8-B8D3-3A30AE7F820D}" type="pres">
      <dgm:prSet presAssocID="{735B2D4A-18D5-4ABB-AF5C-C3121139639C}" presName="spaceRect" presStyleCnt="0"/>
      <dgm:spPr/>
    </dgm:pt>
    <dgm:pt modelId="{C9598BD8-5998-467B-A485-C0169A2AD204}" type="pres">
      <dgm:prSet presAssocID="{735B2D4A-18D5-4ABB-AF5C-C3121139639C}" presName="textRect" presStyleLbl="revTx" presStyleIdx="0" presStyleCnt="3">
        <dgm:presLayoutVars>
          <dgm:chMax val="1"/>
          <dgm:chPref val="1"/>
        </dgm:presLayoutVars>
      </dgm:prSet>
      <dgm:spPr/>
    </dgm:pt>
    <dgm:pt modelId="{8A1427CF-9C04-42D3-8337-C9825E84DC8B}" type="pres">
      <dgm:prSet presAssocID="{6FC9A508-5DD4-4926-B37B-50DEE90C6752}" presName="sibTrans" presStyleCnt="0"/>
      <dgm:spPr/>
    </dgm:pt>
    <dgm:pt modelId="{E23BBC98-AD14-41A4-BB76-9AB3D043B82D}" type="pres">
      <dgm:prSet presAssocID="{4CAEA30D-2840-49D0-91A4-2BE83399BF01}" presName="compNode" presStyleCnt="0"/>
      <dgm:spPr/>
    </dgm:pt>
    <dgm:pt modelId="{6FDA7E16-1966-4BA6-A7F3-EFD7FAF397D2}" type="pres">
      <dgm:prSet presAssocID="{4CAEA30D-2840-49D0-91A4-2BE83399BF01}" presName="iconBgRect" presStyleLbl="bgShp" presStyleIdx="1" presStyleCnt="3"/>
      <dgm:spPr/>
    </dgm:pt>
    <dgm:pt modelId="{98CEB4B9-9793-4826-9409-209338411696}" type="pres">
      <dgm:prSet presAssocID="{4CAEA30D-2840-49D0-91A4-2BE83399BF0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F95616A-CE6A-437C-B7D2-2E058D87AB91}" type="pres">
      <dgm:prSet presAssocID="{4CAEA30D-2840-49D0-91A4-2BE83399BF01}" presName="spaceRect" presStyleCnt="0"/>
      <dgm:spPr/>
    </dgm:pt>
    <dgm:pt modelId="{B7293B79-5DA3-45D9-B497-F81DC52252A2}" type="pres">
      <dgm:prSet presAssocID="{4CAEA30D-2840-49D0-91A4-2BE83399BF01}" presName="textRect" presStyleLbl="revTx" presStyleIdx="1" presStyleCnt="3">
        <dgm:presLayoutVars>
          <dgm:chMax val="1"/>
          <dgm:chPref val="1"/>
        </dgm:presLayoutVars>
      </dgm:prSet>
      <dgm:spPr/>
    </dgm:pt>
    <dgm:pt modelId="{378ED931-0425-4F43-9A0A-D8A75B5EE4D7}" type="pres">
      <dgm:prSet presAssocID="{0662EFB5-1AF3-4670-B4E8-A356A01A5A30}" presName="sibTrans" presStyleCnt="0"/>
      <dgm:spPr/>
    </dgm:pt>
    <dgm:pt modelId="{5737BD36-1DE1-4C32-BC4A-53D95630DC2D}" type="pres">
      <dgm:prSet presAssocID="{1D4CBB8A-58A0-4944-8227-BD8CFBE1377C}" presName="compNode" presStyleCnt="0"/>
      <dgm:spPr/>
    </dgm:pt>
    <dgm:pt modelId="{CEA4754A-D311-4B81-92E7-80C49E620A41}" type="pres">
      <dgm:prSet presAssocID="{1D4CBB8A-58A0-4944-8227-BD8CFBE1377C}" presName="iconBgRect" presStyleLbl="bgShp" presStyleIdx="2" presStyleCnt="3"/>
      <dgm:spPr/>
    </dgm:pt>
    <dgm:pt modelId="{33938460-E616-4BBA-90B7-430F48E7E5C8}" type="pres">
      <dgm:prSet presAssocID="{1D4CBB8A-58A0-4944-8227-BD8CFBE1377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D1FE298-5CBC-4A57-BDB8-2342CD3C99F9}" type="pres">
      <dgm:prSet presAssocID="{1D4CBB8A-58A0-4944-8227-BD8CFBE1377C}" presName="spaceRect" presStyleCnt="0"/>
      <dgm:spPr/>
    </dgm:pt>
    <dgm:pt modelId="{782EE0E2-1405-4EEF-AD27-804A1749EDE8}" type="pres">
      <dgm:prSet presAssocID="{1D4CBB8A-58A0-4944-8227-BD8CFBE1377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8E5C70F-A493-430D-86DD-7B7766569EA1}" srcId="{FDF97715-8C8E-4EAD-8FFE-0EE6EE7DF9F6}" destId="{735B2D4A-18D5-4ABB-AF5C-C3121139639C}" srcOrd="0" destOrd="0" parTransId="{89CBC67A-499C-4416-93CC-265996B902F3}" sibTransId="{6FC9A508-5DD4-4926-B37B-50DEE90C6752}"/>
    <dgm:cxn modelId="{416FA131-B184-48F5-AC83-3EB3F78314FB}" type="presOf" srcId="{735B2D4A-18D5-4ABB-AF5C-C3121139639C}" destId="{C9598BD8-5998-467B-A485-C0169A2AD204}" srcOrd="0" destOrd="0" presId="urn:microsoft.com/office/officeart/2018/5/layout/IconCircleLabelList"/>
    <dgm:cxn modelId="{6A519C80-DB25-4E96-A838-96D85F9B628C}" srcId="{FDF97715-8C8E-4EAD-8FFE-0EE6EE7DF9F6}" destId="{1D4CBB8A-58A0-4944-8227-BD8CFBE1377C}" srcOrd="2" destOrd="0" parTransId="{E18FCA25-B9E4-4318-86C2-4F29266306B5}" sibTransId="{C7C198BC-AA77-4994-B7D6-7A3E04B8B556}"/>
    <dgm:cxn modelId="{96994D92-F0EA-4461-A226-09B06E71CD62}" type="presOf" srcId="{FDF97715-8C8E-4EAD-8FFE-0EE6EE7DF9F6}" destId="{8EBD1A6A-B116-4C88-9F2D-4E46C8D8196A}" srcOrd="0" destOrd="0" presId="urn:microsoft.com/office/officeart/2018/5/layout/IconCircleLabelList"/>
    <dgm:cxn modelId="{749EE9A5-343A-46D1-A34A-E90BA8B26067}" type="presOf" srcId="{4CAEA30D-2840-49D0-91A4-2BE83399BF01}" destId="{B7293B79-5DA3-45D9-B497-F81DC52252A2}" srcOrd="0" destOrd="0" presId="urn:microsoft.com/office/officeart/2018/5/layout/IconCircleLabelList"/>
    <dgm:cxn modelId="{59DFB0AF-9288-451E-8769-80C47B5C7AF2}" srcId="{FDF97715-8C8E-4EAD-8FFE-0EE6EE7DF9F6}" destId="{4CAEA30D-2840-49D0-91A4-2BE83399BF01}" srcOrd="1" destOrd="0" parTransId="{67208CCF-29F8-42A4-A850-89206EC5B879}" sibTransId="{0662EFB5-1AF3-4670-B4E8-A356A01A5A30}"/>
    <dgm:cxn modelId="{F9EABEDA-5AF4-490F-9974-3D0FA6609E82}" type="presOf" srcId="{1D4CBB8A-58A0-4944-8227-BD8CFBE1377C}" destId="{782EE0E2-1405-4EEF-AD27-804A1749EDE8}" srcOrd="0" destOrd="0" presId="urn:microsoft.com/office/officeart/2018/5/layout/IconCircleLabelList"/>
    <dgm:cxn modelId="{ABABA099-5C1D-465B-8785-BBF82F14AF24}" type="presParOf" srcId="{8EBD1A6A-B116-4C88-9F2D-4E46C8D8196A}" destId="{9583E894-2C30-4DD0-B854-FC7243BC5D50}" srcOrd="0" destOrd="0" presId="urn:microsoft.com/office/officeart/2018/5/layout/IconCircleLabelList"/>
    <dgm:cxn modelId="{CE0D4E0A-6FCC-4953-8D29-25CFC181A0D5}" type="presParOf" srcId="{9583E894-2C30-4DD0-B854-FC7243BC5D50}" destId="{0744917D-6123-4AEE-A8FF-B9F9CF489C1C}" srcOrd="0" destOrd="0" presId="urn:microsoft.com/office/officeart/2018/5/layout/IconCircleLabelList"/>
    <dgm:cxn modelId="{3B3F4B73-FF7D-43EC-A1FF-518CD58D71FE}" type="presParOf" srcId="{9583E894-2C30-4DD0-B854-FC7243BC5D50}" destId="{735C4C55-E25F-428D-8E1F-716221A1A90F}" srcOrd="1" destOrd="0" presId="urn:microsoft.com/office/officeart/2018/5/layout/IconCircleLabelList"/>
    <dgm:cxn modelId="{A058CABD-55C3-48F3-A3EA-83E404BA432F}" type="presParOf" srcId="{9583E894-2C30-4DD0-B854-FC7243BC5D50}" destId="{9E038FE4-E8C4-41D8-B8D3-3A30AE7F820D}" srcOrd="2" destOrd="0" presId="urn:microsoft.com/office/officeart/2018/5/layout/IconCircleLabelList"/>
    <dgm:cxn modelId="{82825723-F98B-488B-A485-807C21EEC1D8}" type="presParOf" srcId="{9583E894-2C30-4DD0-B854-FC7243BC5D50}" destId="{C9598BD8-5998-467B-A485-C0169A2AD204}" srcOrd="3" destOrd="0" presId="urn:microsoft.com/office/officeart/2018/5/layout/IconCircleLabelList"/>
    <dgm:cxn modelId="{ABBF9E7C-E1C2-46C1-A185-2FFA7F12D2D6}" type="presParOf" srcId="{8EBD1A6A-B116-4C88-9F2D-4E46C8D8196A}" destId="{8A1427CF-9C04-42D3-8337-C9825E84DC8B}" srcOrd="1" destOrd="0" presId="urn:microsoft.com/office/officeart/2018/5/layout/IconCircleLabelList"/>
    <dgm:cxn modelId="{7C94B6FE-0B4C-4BA2-BB6A-210E5E0D988E}" type="presParOf" srcId="{8EBD1A6A-B116-4C88-9F2D-4E46C8D8196A}" destId="{E23BBC98-AD14-41A4-BB76-9AB3D043B82D}" srcOrd="2" destOrd="0" presId="urn:microsoft.com/office/officeart/2018/5/layout/IconCircleLabelList"/>
    <dgm:cxn modelId="{71982A42-2FB0-4DDD-A501-BD2FFB300B85}" type="presParOf" srcId="{E23BBC98-AD14-41A4-BB76-9AB3D043B82D}" destId="{6FDA7E16-1966-4BA6-A7F3-EFD7FAF397D2}" srcOrd="0" destOrd="0" presId="urn:microsoft.com/office/officeart/2018/5/layout/IconCircleLabelList"/>
    <dgm:cxn modelId="{C02C310C-D3BB-4FF7-9FF6-6EBF2E5F4D93}" type="presParOf" srcId="{E23BBC98-AD14-41A4-BB76-9AB3D043B82D}" destId="{98CEB4B9-9793-4826-9409-209338411696}" srcOrd="1" destOrd="0" presId="urn:microsoft.com/office/officeart/2018/5/layout/IconCircleLabelList"/>
    <dgm:cxn modelId="{E298AC18-55AE-4C14-A0E1-3180383167C1}" type="presParOf" srcId="{E23BBC98-AD14-41A4-BB76-9AB3D043B82D}" destId="{BF95616A-CE6A-437C-B7D2-2E058D87AB91}" srcOrd="2" destOrd="0" presId="urn:microsoft.com/office/officeart/2018/5/layout/IconCircleLabelList"/>
    <dgm:cxn modelId="{6FB4DB5A-9CCC-4A17-AEE9-8051D483A686}" type="presParOf" srcId="{E23BBC98-AD14-41A4-BB76-9AB3D043B82D}" destId="{B7293B79-5DA3-45D9-B497-F81DC52252A2}" srcOrd="3" destOrd="0" presId="urn:microsoft.com/office/officeart/2018/5/layout/IconCircleLabelList"/>
    <dgm:cxn modelId="{F5FB4F8F-DECC-464F-8D5C-8EECDBB9F99F}" type="presParOf" srcId="{8EBD1A6A-B116-4C88-9F2D-4E46C8D8196A}" destId="{378ED931-0425-4F43-9A0A-D8A75B5EE4D7}" srcOrd="3" destOrd="0" presId="urn:microsoft.com/office/officeart/2018/5/layout/IconCircleLabelList"/>
    <dgm:cxn modelId="{75085ABA-BAD4-485D-AFCE-36E02817CBA3}" type="presParOf" srcId="{8EBD1A6A-B116-4C88-9F2D-4E46C8D8196A}" destId="{5737BD36-1DE1-4C32-BC4A-53D95630DC2D}" srcOrd="4" destOrd="0" presId="urn:microsoft.com/office/officeart/2018/5/layout/IconCircleLabelList"/>
    <dgm:cxn modelId="{25AD91F3-D261-45AC-AD52-685F41DB1993}" type="presParOf" srcId="{5737BD36-1DE1-4C32-BC4A-53D95630DC2D}" destId="{CEA4754A-D311-4B81-92E7-80C49E620A41}" srcOrd="0" destOrd="0" presId="urn:microsoft.com/office/officeart/2018/5/layout/IconCircleLabelList"/>
    <dgm:cxn modelId="{2B26A14F-F078-45B0-99BF-D500310B3E95}" type="presParOf" srcId="{5737BD36-1DE1-4C32-BC4A-53D95630DC2D}" destId="{33938460-E616-4BBA-90B7-430F48E7E5C8}" srcOrd="1" destOrd="0" presId="urn:microsoft.com/office/officeart/2018/5/layout/IconCircleLabelList"/>
    <dgm:cxn modelId="{4ED68A77-E64D-4078-8289-9FA66586C518}" type="presParOf" srcId="{5737BD36-1DE1-4C32-BC4A-53D95630DC2D}" destId="{9D1FE298-5CBC-4A57-BDB8-2342CD3C99F9}" srcOrd="2" destOrd="0" presId="urn:microsoft.com/office/officeart/2018/5/layout/IconCircleLabelList"/>
    <dgm:cxn modelId="{A49590F2-50A1-4DC2-B927-C483CA3822DB}" type="presParOf" srcId="{5737BD36-1DE1-4C32-BC4A-53D95630DC2D}" destId="{782EE0E2-1405-4EEF-AD27-804A1749EDE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91FD2D-3274-4041-9E43-63766C02E85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AAA2B3-4C9E-4475-AD31-236C45609200}">
      <dgm:prSet/>
      <dgm:spPr/>
      <dgm:t>
        <a:bodyPr/>
        <a:lstStyle/>
        <a:p>
          <a:r>
            <a:rPr lang="en-US" dirty="0">
              <a:solidFill>
                <a:srgbClr val="111827"/>
              </a:solidFill>
            </a:rPr>
            <a:t>- MTTA / time to acknowledge: how fast pages are picked up</a:t>
          </a:r>
        </a:p>
        <a:p>
          <a:r>
            <a:rPr lang="en-US" dirty="0">
              <a:solidFill>
                <a:srgbClr val="111827"/>
              </a:solidFill>
            </a:rPr>
            <a:t>- MTTR / time to mitigate: how quickly service is restored</a:t>
          </a:r>
          <a:endParaRPr lang="en-US" dirty="0"/>
        </a:p>
      </dgm:t>
    </dgm:pt>
    <dgm:pt modelId="{BABF7ED3-4344-4E20-89AD-3BF3C9E495F0}" type="parTrans" cxnId="{F96F44BA-3603-483D-B34D-13CA22740938}">
      <dgm:prSet/>
      <dgm:spPr/>
      <dgm:t>
        <a:bodyPr/>
        <a:lstStyle/>
        <a:p>
          <a:endParaRPr lang="en-US"/>
        </a:p>
      </dgm:t>
    </dgm:pt>
    <dgm:pt modelId="{226BE38B-76BC-4E08-A2E6-DD3A60E87F34}" type="sibTrans" cxnId="{F96F44BA-3603-483D-B34D-13CA22740938}">
      <dgm:prSet/>
      <dgm:spPr/>
      <dgm:t>
        <a:bodyPr/>
        <a:lstStyle/>
        <a:p>
          <a:endParaRPr lang="en-US"/>
        </a:p>
      </dgm:t>
    </dgm:pt>
    <dgm:pt modelId="{496AF3C5-09F9-4603-8527-A76CB88D0B2D}">
      <dgm:prSet/>
      <dgm:spPr/>
      <dgm:t>
        <a:bodyPr/>
        <a:lstStyle/>
        <a:p>
          <a:r>
            <a:rPr lang="en-US" dirty="0">
              <a:solidFill>
                <a:srgbClr val="111827"/>
              </a:solidFill>
            </a:rPr>
            <a:t>Paging load: pages per shift, after-hours pages, and repeat offenders</a:t>
          </a:r>
          <a:endParaRPr lang="en-US" dirty="0"/>
        </a:p>
      </dgm:t>
    </dgm:pt>
    <dgm:pt modelId="{C07B333D-E5A4-4AA2-8AE9-DEF968B670BC}" type="parTrans" cxnId="{EC27590C-DF5B-499C-92CD-E68AACAD757D}">
      <dgm:prSet/>
      <dgm:spPr/>
      <dgm:t>
        <a:bodyPr/>
        <a:lstStyle/>
        <a:p>
          <a:endParaRPr lang="en-US"/>
        </a:p>
      </dgm:t>
    </dgm:pt>
    <dgm:pt modelId="{02339C0B-24F9-4BE0-9418-0414F67473CA}" type="sibTrans" cxnId="{EC27590C-DF5B-499C-92CD-E68AACAD757D}">
      <dgm:prSet/>
      <dgm:spPr/>
      <dgm:t>
        <a:bodyPr/>
        <a:lstStyle/>
        <a:p>
          <a:endParaRPr lang="en-US"/>
        </a:p>
      </dgm:t>
    </dgm:pt>
    <dgm:pt modelId="{46B911EA-B2D9-485A-B1DA-4C79C0B63A96}">
      <dgm:prSet/>
      <dgm:spPr/>
      <dgm:t>
        <a:bodyPr/>
        <a:lstStyle/>
        <a:p>
          <a:r>
            <a:rPr lang="en-US" dirty="0">
              <a:solidFill>
                <a:srgbClr val="111827"/>
              </a:solidFill>
            </a:rPr>
            <a:t>- Escalation rate: signals whether runbooks/ownership are clear</a:t>
          </a:r>
        </a:p>
        <a:p>
          <a:r>
            <a:rPr lang="en-US" dirty="0"/>
            <a:t>- </a:t>
          </a:r>
          <a:r>
            <a:rPr lang="en-US" dirty="0">
              <a:solidFill>
                <a:srgbClr val="111827"/>
              </a:solidFill>
            </a:rPr>
            <a:t>Toil and fatigue indicators: work outside business hours, sleep disruptions, burnout signals</a:t>
          </a:r>
          <a:endParaRPr lang="en-US" dirty="0"/>
        </a:p>
      </dgm:t>
    </dgm:pt>
    <dgm:pt modelId="{91C4938A-50AA-4B51-82B4-F31073666C20}" type="parTrans" cxnId="{9573EBEC-33AA-4A9A-BCA7-7E04B5DD359A}">
      <dgm:prSet/>
      <dgm:spPr/>
      <dgm:t>
        <a:bodyPr/>
        <a:lstStyle/>
        <a:p>
          <a:endParaRPr lang="en-US"/>
        </a:p>
      </dgm:t>
    </dgm:pt>
    <dgm:pt modelId="{390FC9B5-6129-4056-8D39-78DC2C52D72F}" type="sibTrans" cxnId="{9573EBEC-33AA-4A9A-BCA7-7E04B5DD359A}">
      <dgm:prSet/>
      <dgm:spPr/>
      <dgm:t>
        <a:bodyPr/>
        <a:lstStyle/>
        <a:p>
          <a:endParaRPr lang="en-US"/>
        </a:p>
      </dgm:t>
    </dgm:pt>
    <dgm:pt modelId="{0AEE7C6D-2524-4CC4-A967-C712C2B387A9}" type="pres">
      <dgm:prSet presAssocID="{DA91FD2D-3274-4041-9E43-63766C02E853}" presName="root" presStyleCnt="0">
        <dgm:presLayoutVars>
          <dgm:dir/>
          <dgm:resizeHandles val="exact"/>
        </dgm:presLayoutVars>
      </dgm:prSet>
      <dgm:spPr/>
    </dgm:pt>
    <dgm:pt modelId="{492E3B44-8F07-4257-B27C-1C607B6A8315}" type="pres">
      <dgm:prSet presAssocID="{EFAAA2B3-4C9E-4475-AD31-236C45609200}" presName="compNode" presStyleCnt="0"/>
      <dgm:spPr/>
    </dgm:pt>
    <dgm:pt modelId="{BDD1ABBA-458C-481C-9210-C31E91BFFB37}" type="pres">
      <dgm:prSet presAssocID="{EFAAA2B3-4C9E-4475-AD31-236C4560920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7C111F5-9CC6-4271-B2D1-4E57EF192BAC}" type="pres">
      <dgm:prSet presAssocID="{EFAAA2B3-4C9E-4475-AD31-236C45609200}" presName="spaceRect" presStyleCnt="0"/>
      <dgm:spPr/>
    </dgm:pt>
    <dgm:pt modelId="{9B24812E-642C-4178-ABD0-7948EA491B66}" type="pres">
      <dgm:prSet presAssocID="{EFAAA2B3-4C9E-4475-AD31-236C45609200}" presName="textRect" presStyleLbl="revTx" presStyleIdx="0" presStyleCnt="3">
        <dgm:presLayoutVars>
          <dgm:chMax val="1"/>
          <dgm:chPref val="1"/>
        </dgm:presLayoutVars>
      </dgm:prSet>
      <dgm:spPr/>
    </dgm:pt>
    <dgm:pt modelId="{54981F52-188F-4F73-ADC2-9E304B55DFCA}" type="pres">
      <dgm:prSet presAssocID="{226BE38B-76BC-4E08-A2E6-DD3A60E87F34}" presName="sibTrans" presStyleCnt="0"/>
      <dgm:spPr/>
    </dgm:pt>
    <dgm:pt modelId="{8EAD9943-0158-4777-AEEA-AD11EB2728B2}" type="pres">
      <dgm:prSet presAssocID="{496AF3C5-09F9-4603-8527-A76CB88D0B2D}" presName="compNode" presStyleCnt="0"/>
      <dgm:spPr/>
    </dgm:pt>
    <dgm:pt modelId="{398EE9E7-72B9-4130-9FE2-3E98800526FF}" type="pres">
      <dgm:prSet presAssocID="{496AF3C5-09F9-4603-8527-A76CB88D0B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CFF9C6D-E98A-4C48-BF5C-BFE94BA21A17}" type="pres">
      <dgm:prSet presAssocID="{496AF3C5-09F9-4603-8527-A76CB88D0B2D}" presName="spaceRect" presStyleCnt="0"/>
      <dgm:spPr/>
    </dgm:pt>
    <dgm:pt modelId="{DD470A81-64A0-41E8-8870-67BD88EA312B}" type="pres">
      <dgm:prSet presAssocID="{496AF3C5-09F9-4603-8527-A76CB88D0B2D}" presName="textRect" presStyleLbl="revTx" presStyleIdx="1" presStyleCnt="3">
        <dgm:presLayoutVars>
          <dgm:chMax val="1"/>
          <dgm:chPref val="1"/>
        </dgm:presLayoutVars>
      </dgm:prSet>
      <dgm:spPr/>
    </dgm:pt>
    <dgm:pt modelId="{D983A837-2ACF-4BE0-BE11-ADBBD25C90AA}" type="pres">
      <dgm:prSet presAssocID="{02339C0B-24F9-4BE0-9418-0414F67473CA}" presName="sibTrans" presStyleCnt="0"/>
      <dgm:spPr/>
    </dgm:pt>
    <dgm:pt modelId="{B60C000E-58E8-44FE-9BF5-2D59DBB54BE2}" type="pres">
      <dgm:prSet presAssocID="{46B911EA-B2D9-485A-B1DA-4C79C0B63A96}" presName="compNode" presStyleCnt="0"/>
      <dgm:spPr/>
    </dgm:pt>
    <dgm:pt modelId="{90A10FF8-E91E-4354-BD94-16FEB55555B2}" type="pres">
      <dgm:prSet presAssocID="{46B911EA-B2D9-485A-B1DA-4C79C0B63A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A15ADE5-9883-42D9-A1CF-B2552D5616ED}" type="pres">
      <dgm:prSet presAssocID="{46B911EA-B2D9-485A-B1DA-4C79C0B63A96}" presName="spaceRect" presStyleCnt="0"/>
      <dgm:spPr/>
    </dgm:pt>
    <dgm:pt modelId="{253356E4-6249-4BDE-90D5-1428587D70F4}" type="pres">
      <dgm:prSet presAssocID="{46B911EA-B2D9-485A-B1DA-4C79C0B63A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C27590C-DF5B-499C-92CD-E68AACAD757D}" srcId="{DA91FD2D-3274-4041-9E43-63766C02E853}" destId="{496AF3C5-09F9-4603-8527-A76CB88D0B2D}" srcOrd="1" destOrd="0" parTransId="{C07B333D-E5A4-4AA2-8AE9-DEF968B670BC}" sibTransId="{02339C0B-24F9-4BE0-9418-0414F67473CA}"/>
    <dgm:cxn modelId="{AF12581E-888B-4C47-A8A6-107F418E7F78}" type="presOf" srcId="{DA91FD2D-3274-4041-9E43-63766C02E853}" destId="{0AEE7C6D-2524-4CC4-A967-C712C2B387A9}" srcOrd="0" destOrd="0" presId="urn:microsoft.com/office/officeart/2018/2/layout/IconLabelList"/>
    <dgm:cxn modelId="{5D4AD03C-FBA7-4D25-A465-91C00E968ACE}" type="presOf" srcId="{46B911EA-B2D9-485A-B1DA-4C79C0B63A96}" destId="{253356E4-6249-4BDE-90D5-1428587D70F4}" srcOrd="0" destOrd="0" presId="urn:microsoft.com/office/officeart/2018/2/layout/IconLabelList"/>
    <dgm:cxn modelId="{E6F9B83D-104E-49FB-826C-6AC8E8F06740}" type="presOf" srcId="{EFAAA2B3-4C9E-4475-AD31-236C45609200}" destId="{9B24812E-642C-4178-ABD0-7948EA491B66}" srcOrd="0" destOrd="0" presId="urn:microsoft.com/office/officeart/2018/2/layout/IconLabelList"/>
    <dgm:cxn modelId="{7A2CE99E-CDA4-492E-9AD4-3E9248DDCAAA}" type="presOf" srcId="{496AF3C5-09F9-4603-8527-A76CB88D0B2D}" destId="{DD470A81-64A0-41E8-8870-67BD88EA312B}" srcOrd="0" destOrd="0" presId="urn:microsoft.com/office/officeart/2018/2/layout/IconLabelList"/>
    <dgm:cxn modelId="{F96F44BA-3603-483D-B34D-13CA22740938}" srcId="{DA91FD2D-3274-4041-9E43-63766C02E853}" destId="{EFAAA2B3-4C9E-4475-AD31-236C45609200}" srcOrd="0" destOrd="0" parTransId="{BABF7ED3-4344-4E20-89AD-3BF3C9E495F0}" sibTransId="{226BE38B-76BC-4E08-A2E6-DD3A60E87F34}"/>
    <dgm:cxn modelId="{9573EBEC-33AA-4A9A-BCA7-7E04B5DD359A}" srcId="{DA91FD2D-3274-4041-9E43-63766C02E853}" destId="{46B911EA-B2D9-485A-B1DA-4C79C0B63A96}" srcOrd="2" destOrd="0" parTransId="{91C4938A-50AA-4B51-82B4-F31073666C20}" sibTransId="{390FC9B5-6129-4056-8D39-78DC2C52D72F}"/>
    <dgm:cxn modelId="{629FD0D0-D2A4-49E7-AF00-682251BC46ED}" type="presParOf" srcId="{0AEE7C6D-2524-4CC4-A967-C712C2B387A9}" destId="{492E3B44-8F07-4257-B27C-1C607B6A8315}" srcOrd="0" destOrd="0" presId="urn:microsoft.com/office/officeart/2018/2/layout/IconLabelList"/>
    <dgm:cxn modelId="{B767795E-F75B-4259-871B-A197D4C8E99D}" type="presParOf" srcId="{492E3B44-8F07-4257-B27C-1C607B6A8315}" destId="{BDD1ABBA-458C-481C-9210-C31E91BFFB37}" srcOrd="0" destOrd="0" presId="urn:microsoft.com/office/officeart/2018/2/layout/IconLabelList"/>
    <dgm:cxn modelId="{48F1ADEA-E1FA-485F-808E-F5B92B565003}" type="presParOf" srcId="{492E3B44-8F07-4257-B27C-1C607B6A8315}" destId="{57C111F5-9CC6-4271-B2D1-4E57EF192BAC}" srcOrd="1" destOrd="0" presId="urn:microsoft.com/office/officeart/2018/2/layout/IconLabelList"/>
    <dgm:cxn modelId="{A7CF6692-29B4-4FDB-94D6-AE3F693D2D2F}" type="presParOf" srcId="{492E3B44-8F07-4257-B27C-1C607B6A8315}" destId="{9B24812E-642C-4178-ABD0-7948EA491B66}" srcOrd="2" destOrd="0" presId="urn:microsoft.com/office/officeart/2018/2/layout/IconLabelList"/>
    <dgm:cxn modelId="{25D7D617-E4EB-4AE8-8DB5-A050D67D9E8C}" type="presParOf" srcId="{0AEE7C6D-2524-4CC4-A967-C712C2B387A9}" destId="{54981F52-188F-4F73-ADC2-9E304B55DFCA}" srcOrd="1" destOrd="0" presId="urn:microsoft.com/office/officeart/2018/2/layout/IconLabelList"/>
    <dgm:cxn modelId="{BE34A2CC-8070-4D26-8FB6-AB7381D6437C}" type="presParOf" srcId="{0AEE7C6D-2524-4CC4-A967-C712C2B387A9}" destId="{8EAD9943-0158-4777-AEEA-AD11EB2728B2}" srcOrd="2" destOrd="0" presId="urn:microsoft.com/office/officeart/2018/2/layout/IconLabelList"/>
    <dgm:cxn modelId="{A3C1C3CD-6B2A-4C2A-A4BF-772A8A669A9B}" type="presParOf" srcId="{8EAD9943-0158-4777-AEEA-AD11EB2728B2}" destId="{398EE9E7-72B9-4130-9FE2-3E98800526FF}" srcOrd="0" destOrd="0" presId="urn:microsoft.com/office/officeart/2018/2/layout/IconLabelList"/>
    <dgm:cxn modelId="{E516AC9A-9C3E-4726-9611-92F392FCFC92}" type="presParOf" srcId="{8EAD9943-0158-4777-AEEA-AD11EB2728B2}" destId="{BCFF9C6D-E98A-4C48-BF5C-BFE94BA21A17}" srcOrd="1" destOrd="0" presId="urn:microsoft.com/office/officeart/2018/2/layout/IconLabelList"/>
    <dgm:cxn modelId="{9A7C4D55-BDD3-4ADA-87E7-9C49378BB945}" type="presParOf" srcId="{8EAD9943-0158-4777-AEEA-AD11EB2728B2}" destId="{DD470A81-64A0-41E8-8870-67BD88EA312B}" srcOrd="2" destOrd="0" presId="urn:microsoft.com/office/officeart/2018/2/layout/IconLabelList"/>
    <dgm:cxn modelId="{F0A251BD-2DF7-4009-A5E5-00134517F691}" type="presParOf" srcId="{0AEE7C6D-2524-4CC4-A967-C712C2B387A9}" destId="{D983A837-2ACF-4BE0-BE11-ADBBD25C90AA}" srcOrd="3" destOrd="0" presId="urn:microsoft.com/office/officeart/2018/2/layout/IconLabelList"/>
    <dgm:cxn modelId="{29467915-0708-40B8-AF74-FFED8FF1455E}" type="presParOf" srcId="{0AEE7C6D-2524-4CC4-A967-C712C2B387A9}" destId="{B60C000E-58E8-44FE-9BF5-2D59DBB54BE2}" srcOrd="4" destOrd="0" presId="urn:microsoft.com/office/officeart/2018/2/layout/IconLabelList"/>
    <dgm:cxn modelId="{9C9316BB-4BA4-4C1B-B825-A5C6DF8E5305}" type="presParOf" srcId="{B60C000E-58E8-44FE-9BF5-2D59DBB54BE2}" destId="{90A10FF8-E91E-4354-BD94-16FEB55555B2}" srcOrd="0" destOrd="0" presId="urn:microsoft.com/office/officeart/2018/2/layout/IconLabelList"/>
    <dgm:cxn modelId="{05287846-9101-402E-AA15-76C440FB3E53}" type="presParOf" srcId="{B60C000E-58E8-44FE-9BF5-2D59DBB54BE2}" destId="{7A15ADE5-9883-42D9-A1CF-B2552D5616ED}" srcOrd="1" destOrd="0" presId="urn:microsoft.com/office/officeart/2018/2/layout/IconLabelList"/>
    <dgm:cxn modelId="{BC71E07E-E472-448F-B53E-B082C9EC663E}" type="presParOf" srcId="{B60C000E-58E8-44FE-9BF5-2D59DBB54BE2}" destId="{253356E4-6249-4BDE-90D5-1428587D70F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4342FD-952E-456B-A607-F292AC914AE2}">
      <dsp:nvSpPr>
        <dsp:cNvPr id="0" name=""/>
        <dsp:cNvSpPr/>
      </dsp:nvSpPr>
      <dsp:spPr>
        <a:xfrm>
          <a:off x="0" y="3161"/>
          <a:ext cx="7053264" cy="6733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7866E-FB06-4F22-B5DF-BC44C6571B0B}">
      <dsp:nvSpPr>
        <dsp:cNvPr id="0" name=""/>
        <dsp:cNvSpPr/>
      </dsp:nvSpPr>
      <dsp:spPr>
        <a:xfrm>
          <a:off x="203702" y="154675"/>
          <a:ext cx="370368" cy="3703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B096D-DCDC-4829-93B8-437CF1E90F71}">
      <dsp:nvSpPr>
        <dsp:cNvPr id="0" name=""/>
        <dsp:cNvSpPr/>
      </dsp:nvSpPr>
      <dsp:spPr>
        <a:xfrm>
          <a:off x="777773" y="3161"/>
          <a:ext cx="6275490" cy="673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268" tIns="71268" rIns="71268" bIns="7126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Clear coverage model: primary + secondary/backup with defined escalation timing</a:t>
          </a:r>
        </a:p>
      </dsp:txBody>
      <dsp:txXfrm>
        <a:off x="777773" y="3161"/>
        <a:ext cx="6275490" cy="673397"/>
      </dsp:txXfrm>
    </dsp:sp>
    <dsp:sp modelId="{FCB0A17A-E6F0-4490-9A25-EB693995F2AE}">
      <dsp:nvSpPr>
        <dsp:cNvPr id="0" name=""/>
        <dsp:cNvSpPr/>
      </dsp:nvSpPr>
      <dsp:spPr>
        <a:xfrm>
          <a:off x="0" y="844907"/>
          <a:ext cx="7053264" cy="6733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0FAB3-4236-47A9-9C83-56D9CBE48174}">
      <dsp:nvSpPr>
        <dsp:cNvPr id="0" name=""/>
        <dsp:cNvSpPr/>
      </dsp:nvSpPr>
      <dsp:spPr>
        <a:xfrm>
          <a:off x="203702" y="996422"/>
          <a:ext cx="370368" cy="3703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8B713-86AE-472E-A2A8-332CCB3F9DF7}">
      <dsp:nvSpPr>
        <dsp:cNvPr id="0" name=""/>
        <dsp:cNvSpPr/>
      </dsp:nvSpPr>
      <dsp:spPr>
        <a:xfrm>
          <a:off x="777773" y="844907"/>
          <a:ext cx="6275490" cy="673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268" tIns="71268" rIns="71268" bIns="7126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Reasonable shift length (often 1 week or shorter) and predictable handoff times</a:t>
          </a:r>
        </a:p>
      </dsp:txBody>
      <dsp:txXfrm>
        <a:off x="777773" y="844907"/>
        <a:ext cx="6275490" cy="673397"/>
      </dsp:txXfrm>
    </dsp:sp>
    <dsp:sp modelId="{E99CCCA0-2709-4C51-84D2-9760418C803D}">
      <dsp:nvSpPr>
        <dsp:cNvPr id="0" name=""/>
        <dsp:cNvSpPr/>
      </dsp:nvSpPr>
      <dsp:spPr>
        <a:xfrm>
          <a:off x="0" y="1686654"/>
          <a:ext cx="7053264" cy="6733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4E98B8-591D-4FBC-8BA5-9C69356975A9}">
      <dsp:nvSpPr>
        <dsp:cNvPr id="0" name=""/>
        <dsp:cNvSpPr/>
      </dsp:nvSpPr>
      <dsp:spPr>
        <a:xfrm>
          <a:off x="203702" y="1838168"/>
          <a:ext cx="370368" cy="3703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403D1-2104-438F-BE46-351B2354471D}">
      <dsp:nvSpPr>
        <dsp:cNvPr id="0" name=""/>
        <dsp:cNvSpPr/>
      </dsp:nvSpPr>
      <dsp:spPr>
        <a:xfrm>
          <a:off x="777773" y="1686654"/>
          <a:ext cx="6275490" cy="673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268" tIns="71268" rIns="71268" bIns="7126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Fairness: rotate evenly, support swaps, and avoid back-to-back “crunch” coverage</a:t>
          </a:r>
        </a:p>
      </dsp:txBody>
      <dsp:txXfrm>
        <a:off x="777773" y="1686654"/>
        <a:ext cx="6275490" cy="673397"/>
      </dsp:txXfrm>
    </dsp:sp>
    <dsp:sp modelId="{B1027695-B97A-4CAF-87CB-7F15349E12F5}">
      <dsp:nvSpPr>
        <dsp:cNvPr id="0" name=""/>
        <dsp:cNvSpPr/>
      </dsp:nvSpPr>
      <dsp:spPr>
        <a:xfrm>
          <a:off x="0" y="2528400"/>
          <a:ext cx="7053264" cy="67339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5B8EB-9BFA-4EB6-AB00-5D98C47AF11F}">
      <dsp:nvSpPr>
        <dsp:cNvPr id="0" name=""/>
        <dsp:cNvSpPr/>
      </dsp:nvSpPr>
      <dsp:spPr>
        <a:xfrm>
          <a:off x="203702" y="2679915"/>
          <a:ext cx="370368" cy="3703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87F93-329D-4216-A4F5-7E9E49A6156B}">
      <dsp:nvSpPr>
        <dsp:cNvPr id="0" name=""/>
        <dsp:cNvSpPr/>
      </dsp:nvSpPr>
      <dsp:spPr>
        <a:xfrm>
          <a:off x="777773" y="2528400"/>
          <a:ext cx="6275490" cy="673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268" tIns="71268" rIns="71268" bIns="7126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111827"/>
              </a:solidFill>
            </a:rPr>
            <a:t>Provide recovery time after major incidents to reduce fatigue and mistakes</a:t>
          </a:r>
          <a:endParaRPr lang="en-US" sz="1800" kern="1200" dirty="0"/>
        </a:p>
      </dsp:txBody>
      <dsp:txXfrm>
        <a:off x="777773" y="2528400"/>
        <a:ext cx="6275490" cy="673397"/>
      </dsp:txXfrm>
    </dsp:sp>
    <dsp:sp modelId="{1934A0E4-7529-4F2C-88E6-95C1870D92A5}">
      <dsp:nvSpPr>
        <dsp:cNvPr id="0" name=""/>
        <dsp:cNvSpPr/>
      </dsp:nvSpPr>
      <dsp:spPr>
        <a:xfrm>
          <a:off x="0" y="3370147"/>
          <a:ext cx="7053264" cy="67339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C6D91-5649-44B6-8111-BC516EFA63F3}">
      <dsp:nvSpPr>
        <dsp:cNvPr id="0" name=""/>
        <dsp:cNvSpPr/>
      </dsp:nvSpPr>
      <dsp:spPr>
        <a:xfrm>
          <a:off x="203702" y="3521661"/>
          <a:ext cx="370368" cy="3703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473A0-AA4F-4B3D-BCDC-3BE4ADCBB539}">
      <dsp:nvSpPr>
        <dsp:cNvPr id="0" name=""/>
        <dsp:cNvSpPr/>
      </dsp:nvSpPr>
      <dsp:spPr>
        <a:xfrm>
          <a:off x="777773" y="3370147"/>
          <a:ext cx="6275490" cy="673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268" tIns="71268" rIns="71268" bIns="7126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Time zones matter: schedule so responders are awake for most pages when possible</a:t>
          </a:r>
        </a:p>
      </dsp:txBody>
      <dsp:txXfrm>
        <a:off x="777773" y="3370147"/>
        <a:ext cx="6275490" cy="6733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44917D-6123-4AEE-A8FF-B9F9CF489C1C}">
      <dsp:nvSpPr>
        <dsp:cNvPr id="0" name=""/>
        <dsp:cNvSpPr/>
      </dsp:nvSpPr>
      <dsp:spPr>
        <a:xfrm>
          <a:off x="506014" y="374638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C4C55-E25F-428D-8E1F-716221A1A90F}">
      <dsp:nvSpPr>
        <dsp:cNvPr id="0" name=""/>
        <dsp:cNvSpPr/>
      </dsp:nvSpPr>
      <dsp:spPr>
        <a:xfrm>
          <a:off x="820451" y="689075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98BD8-5998-467B-A485-C0169A2AD204}">
      <dsp:nvSpPr>
        <dsp:cNvPr id="0" name=""/>
        <dsp:cNvSpPr/>
      </dsp:nvSpPr>
      <dsp:spPr>
        <a:xfrm>
          <a:off x="34357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>
              <a:solidFill>
                <a:srgbClr val="111827"/>
              </a:solidFill>
            </a:rPr>
            <a:t>Tune thresholds and use multi-signal alerts (e.g., error rate + latency) to avoid flapping</a:t>
          </a:r>
          <a:endParaRPr lang="en-US" sz="1300" kern="1200" dirty="0"/>
        </a:p>
      </dsp:txBody>
      <dsp:txXfrm>
        <a:off x="34357" y="2309638"/>
        <a:ext cx="2418750" cy="720000"/>
      </dsp:txXfrm>
    </dsp:sp>
    <dsp:sp modelId="{6FDA7E16-1966-4BA6-A7F3-EFD7FAF397D2}">
      <dsp:nvSpPr>
        <dsp:cNvPr id="0" name=""/>
        <dsp:cNvSpPr/>
      </dsp:nvSpPr>
      <dsp:spPr>
        <a:xfrm>
          <a:off x="3348045" y="374638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CEB4B9-9793-4826-9409-209338411696}">
      <dsp:nvSpPr>
        <dsp:cNvPr id="0" name=""/>
        <dsp:cNvSpPr/>
      </dsp:nvSpPr>
      <dsp:spPr>
        <a:xfrm>
          <a:off x="3662482" y="689075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93B79-5DA3-45D9-B497-F81DC52252A2}">
      <dsp:nvSpPr>
        <dsp:cNvPr id="0" name=""/>
        <dsp:cNvSpPr/>
      </dsp:nvSpPr>
      <dsp:spPr>
        <a:xfrm>
          <a:off x="2876389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>
              <a:solidFill>
                <a:srgbClr val="111827"/>
              </a:solidFill>
            </a:rPr>
            <a:t>Track alert volume per person/shift and treat noisy alerts as defects to fix</a:t>
          </a:r>
          <a:endParaRPr lang="en-US" sz="1300" kern="1200" dirty="0"/>
        </a:p>
      </dsp:txBody>
      <dsp:txXfrm>
        <a:off x="2876389" y="2309638"/>
        <a:ext cx="2418750" cy="720000"/>
      </dsp:txXfrm>
    </dsp:sp>
    <dsp:sp modelId="{CEA4754A-D311-4B81-92E7-80C49E620A41}">
      <dsp:nvSpPr>
        <dsp:cNvPr id="0" name=""/>
        <dsp:cNvSpPr/>
      </dsp:nvSpPr>
      <dsp:spPr>
        <a:xfrm>
          <a:off x="6190076" y="374638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938460-E616-4BBA-90B7-430F48E7E5C8}">
      <dsp:nvSpPr>
        <dsp:cNvPr id="0" name=""/>
        <dsp:cNvSpPr/>
      </dsp:nvSpPr>
      <dsp:spPr>
        <a:xfrm>
          <a:off x="6504514" y="689075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EE0E2-1405-4EEF-AD27-804A1749EDE8}">
      <dsp:nvSpPr>
        <dsp:cNvPr id="0" name=""/>
        <dsp:cNvSpPr/>
      </dsp:nvSpPr>
      <dsp:spPr>
        <a:xfrm>
          <a:off x="5718420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>
              <a:solidFill>
                <a:srgbClr val="111827"/>
              </a:solidFill>
            </a:rPr>
            <a:t>Use runbooks/automation for common remediations to shorten time-to-mitigate</a:t>
          </a:r>
          <a:endParaRPr lang="en-US" sz="1300" kern="1200" dirty="0"/>
        </a:p>
      </dsp:txBody>
      <dsp:txXfrm>
        <a:off x="5718420" y="2309638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1ABBA-458C-481C-9210-C31E91BFFB37}">
      <dsp:nvSpPr>
        <dsp:cNvPr id="0" name=""/>
        <dsp:cNvSpPr/>
      </dsp:nvSpPr>
      <dsp:spPr>
        <a:xfrm>
          <a:off x="776801" y="1044870"/>
          <a:ext cx="883874" cy="8838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4812E-642C-4178-ABD0-7948EA491B66}">
      <dsp:nvSpPr>
        <dsp:cNvPr id="0" name=""/>
        <dsp:cNvSpPr/>
      </dsp:nvSpPr>
      <dsp:spPr>
        <a:xfrm>
          <a:off x="236656" y="2224063"/>
          <a:ext cx="1964164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11827"/>
              </a:solidFill>
            </a:rPr>
            <a:t>- MTTA / time to acknowledge: how fast pages are picked up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11827"/>
              </a:solidFill>
            </a:rPr>
            <a:t>- MTTR / time to mitigate: how quickly service is restored</a:t>
          </a:r>
          <a:endParaRPr lang="en-US" sz="1100" kern="1200" dirty="0"/>
        </a:p>
      </dsp:txBody>
      <dsp:txXfrm>
        <a:off x="236656" y="2224063"/>
        <a:ext cx="1964164" cy="787500"/>
      </dsp:txXfrm>
    </dsp:sp>
    <dsp:sp modelId="{398EE9E7-72B9-4130-9FE2-3E98800526FF}">
      <dsp:nvSpPr>
        <dsp:cNvPr id="0" name=""/>
        <dsp:cNvSpPr/>
      </dsp:nvSpPr>
      <dsp:spPr>
        <a:xfrm>
          <a:off x="3084694" y="1044870"/>
          <a:ext cx="883874" cy="8838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70A81-64A0-41E8-8870-67BD88EA312B}">
      <dsp:nvSpPr>
        <dsp:cNvPr id="0" name=""/>
        <dsp:cNvSpPr/>
      </dsp:nvSpPr>
      <dsp:spPr>
        <a:xfrm>
          <a:off x="2544549" y="2224063"/>
          <a:ext cx="1964164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11827"/>
              </a:solidFill>
            </a:rPr>
            <a:t>Paging load: pages per shift, after-hours pages, and repeat offenders</a:t>
          </a:r>
          <a:endParaRPr lang="en-US" sz="1100" kern="1200" dirty="0"/>
        </a:p>
      </dsp:txBody>
      <dsp:txXfrm>
        <a:off x="2544549" y="2224063"/>
        <a:ext cx="1964164" cy="787500"/>
      </dsp:txXfrm>
    </dsp:sp>
    <dsp:sp modelId="{90A10FF8-E91E-4354-BD94-16FEB55555B2}">
      <dsp:nvSpPr>
        <dsp:cNvPr id="0" name=""/>
        <dsp:cNvSpPr/>
      </dsp:nvSpPr>
      <dsp:spPr>
        <a:xfrm>
          <a:off x="5392588" y="1044870"/>
          <a:ext cx="883874" cy="8838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356E4-6249-4BDE-90D5-1428587D70F4}">
      <dsp:nvSpPr>
        <dsp:cNvPr id="0" name=""/>
        <dsp:cNvSpPr/>
      </dsp:nvSpPr>
      <dsp:spPr>
        <a:xfrm>
          <a:off x="4852443" y="2224063"/>
          <a:ext cx="1964164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111827"/>
              </a:solidFill>
            </a:rPr>
            <a:t>- Escalation rate: signals whether runbooks/ownership are clear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- </a:t>
          </a:r>
          <a:r>
            <a:rPr lang="en-US" sz="1100" kern="1200" dirty="0">
              <a:solidFill>
                <a:srgbClr val="111827"/>
              </a:solidFill>
            </a:rPr>
            <a:t>Toil and fatigue indicators: work outside business hours, sleep disruptions, burnout signals</a:t>
          </a:r>
          <a:endParaRPr lang="en-US" sz="1100" kern="1200" dirty="0"/>
        </a:p>
      </dsp:txBody>
      <dsp:txXfrm>
        <a:off x="4852443" y="2224063"/>
        <a:ext cx="1964164" cy="78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7A103-5ED9-48DA-BB93-514FF74E53BA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A273E-784D-44C1-A607-B05A273D9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6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20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5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6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3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08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06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3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81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96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8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182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incident-management/on-call" TargetMode="External"/><Relationship Id="rId2" Type="http://schemas.openxmlformats.org/officeDocument/2006/relationships/hyperlink" Target="https://sre.google/sre-book/being-on-call/?utm_source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agerduty.com/resourc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526CBF-0AA4-49A9-B305-EE0AF3AF6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Writing an appointment on a paper agenda">
            <a:extLst>
              <a:ext uri="{FF2B5EF4-FFF2-40B4-BE49-F238E27FC236}">
                <a16:creationId xmlns:a16="http://schemas.microsoft.com/office/drawing/2014/main" id="{DAD3212C-E7DD-1D2D-5C04-1BBF71F5E0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C8B5139-02E6-4DEA-9CCE-962CAF0AF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8551" y="457200"/>
            <a:ext cx="2777491" cy="5935132"/>
            <a:chOff x="438068" y="457200"/>
            <a:chExt cx="3703320" cy="59351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470BC0-AB0D-4A03-B4F1-5DDA9A31C1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4A08B2-EC2C-4641-81BE-FE8B068BE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150" y="2142067"/>
            <a:ext cx="2559050" cy="297180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Pager Rotation Duties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150" y="5145513"/>
            <a:ext cx="2559050" cy="7388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CSD 380 – DevOps</a:t>
            </a:r>
          </a:p>
          <a:p>
            <a:r>
              <a:rPr lang="en-US">
                <a:solidFill>
                  <a:srgbClr val="EBEBEB"/>
                </a:solidFill>
              </a:rPr>
              <a:t>Natasha Foreman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pager rotation duties?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scheduled on-call role responsible for responding to production alerts/incidents during a defined shift</a:t>
            </a:r>
          </a:p>
          <a:p>
            <a:r>
              <a:rPr lang="en-US" dirty="0"/>
              <a:t>Primary duties: acknowledge alerts, assess severity, mitigate or fix, and escalate when needed</a:t>
            </a:r>
          </a:p>
          <a:p>
            <a:r>
              <a:rPr lang="en-US" dirty="0"/>
              <a:t>Secondary duties often include: communications updates, documenting actions, and post-incident follow-up</a:t>
            </a:r>
          </a:p>
          <a:p>
            <a:r>
              <a:rPr lang="en-US" dirty="0"/>
              <a:t>Goal: protect customers and reliability without burning out responders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809" y="768096"/>
            <a:ext cx="5536151" cy="6772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Core responsibilities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6" y="2213436"/>
            <a:ext cx="5536151" cy="401038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Respond quickly: acknowledge and begin triage within target response times</a:t>
            </a:r>
          </a:p>
          <a:p>
            <a:r>
              <a:rPr lang="en-US" dirty="0">
                <a:solidFill>
                  <a:srgbClr val="FFFFFF"/>
                </a:solidFill>
              </a:rPr>
              <a:t>Triage: determine impact, scope, and likely cause using dashboards/logs/traces</a:t>
            </a:r>
          </a:p>
          <a:p>
            <a:r>
              <a:rPr lang="en-US" dirty="0">
                <a:solidFill>
                  <a:srgbClr val="FFFFFF"/>
                </a:solidFill>
              </a:rPr>
              <a:t>Mitigate first: restore service (rollback, feature flag, traffic shift) before deep fixes</a:t>
            </a:r>
          </a:p>
          <a:p>
            <a:r>
              <a:rPr lang="en-US" dirty="0">
                <a:solidFill>
                  <a:srgbClr val="FFFFFF"/>
                </a:solidFill>
              </a:rPr>
              <a:t>Escalate appropriately: bring in domain experts when the issue exceeds on-caller context</a:t>
            </a:r>
          </a:p>
          <a:p>
            <a:r>
              <a:rPr lang="en-US" dirty="0">
                <a:solidFill>
                  <a:srgbClr val="FFFFFF"/>
                </a:solidFill>
              </a:rPr>
              <a:t>Communicate: status updates to stakeholders and clear handoff notes for continuity</a:t>
            </a:r>
          </a:p>
        </p:txBody>
      </p:sp>
      <p:pic>
        <p:nvPicPr>
          <p:cNvPr id="5" name="Picture 4" descr="Alarm clocks in a line">
            <a:extLst>
              <a:ext uri="{FF2B5EF4-FFF2-40B4-BE49-F238E27FC236}">
                <a16:creationId xmlns:a16="http://schemas.microsoft.com/office/drawing/2014/main" id="{5372DF26-E81A-E76C-0C9B-EB174CDDA5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79" r="34290"/>
          <a:stretch>
            <a:fillRect/>
          </a:stretch>
        </p:blipFill>
        <p:spPr>
          <a:xfrm>
            <a:off x="5815583" y="1"/>
            <a:ext cx="3328731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 dirty="0"/>
              <a:t>Designing a healthy rotation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0985ED-D7CB-A946-8889-E80E95E6CF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716960"/>
              </p:ext>
            </p:extLst>
          </p:nvPr>
        </p:nvGraphicFramePr>
        <p:xfrm>
          <a:off x="484583" y="2237362"/>
          <a:ext cx="7053264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>
                <a:solidFill>
                  <a:srgbClr val="EBEBEB"/>
                </a:solidFill>
              </a:rPr>
              <a:t>Alert quality: reduce noise and prevent burnout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E617BA-6B32-2F53-F6DB-CED1E2FFE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1521355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Handoffs, documentation, and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220" y="2275840"/>
            <a:ext cx="6709905" cy="3484879"/>
          </a:xfrm>
        </p:spPr>
        <p:txBody>
          <a:bodyPr>
            <a:normAutofit/>
          </a:bodyPr>
          <a:lstStyle/>
          <a:p>
            <a:r>
              <a:rPr lang="en-US" dirty="0"/>
              <a:t>Structured handoff: current incidents, known risks, recent changes, and “watch items”</a:t>
            </a:r>
          </a:p>
          <a:p>
            <a:r>
              <a:rPr lang="en-US" dirty="0"/>
              <a:t>Runbooks: clear steps, ownership, and escalation paths (kept current)</a:t>
            </a:r>
          </a:p>
          <a:p>
            <a:r>
              <a:rPr lang="en-US" dirty="0"/>
              <a:t>Access: ensure on-caller has permissions, tooling, and contacts before shift starts</a:t>
            </a:r>
          </a:p>
          <a:p>
            <a:r>
              <a:rPr lang="en-US" dirty="0"/>
              <a:t>Training/onboarding: shadowing + gradual ramp-up before taking primary on-call</a:t>
            </a:r>
          </a:p>
          <a:p>
            <a:r>
              <a:rPr lang="en-US" dirty="0"/>
              <a:t>Post-incident review: capture learnings and convert them into engineering work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 dirty="0"/>
              <a:t>Key metrics to manage and improve on-call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532326-99C1-F317-C450-214E5F4C0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25423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that support pager rotations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On-call scheduling + escalation: PagerDuty, </a:t>
            </a:r>
            <a:r>
              <a:rPr lang="en-US" dirty="0" err="1"/>
              <a:t>Opsgenie</a:t>
            </a:r>
            <a:r>
              <a:rPr lang="en-US" dirty="0"/>
              <a:t>/Jira Service Management</a:t>
            </a:r>
          </a:p>
          <a:p>
            <a:r>
              <a:rPr lang="en-US" dirty="0"/>
              <a:t>Observability/telemetry: Prometheus + Grafana, Datadog, </a:t>
            </a:r>
            <a:r>
              <a:rPr lang="en-US" dirty="0" err="1"/>
              <a:t>OpenTelemetry</a:t>
            </a:r>
            <a:r>
              <a:rPr lang="en-US" dirty="0"/>
              <a:t> pipelines</a:t>
            </a:r>
          </a:p>
          <a:p>
            <a:r>
              <a:rPr lang="en-US" dirty="0"/>
              <a:t>Incident coordination: chat + video bridges, status pages, incident docs</a:t>
            </a:r>
          </a:p>
          <a:p>
            <a:r>
              <a:rPr lang="en-US" dirty="0"/>
              <a:t>Automation: runbook automation, auto-remediation, and safe rollbacks</a:t>
            </a:r>
          </a:p>
          <a:p>
            <a:r>
              <a:rPr lang="en-US" dirty="0"/>
              <a:t>The best tool is the one teams actually maintain: keep workflows simple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Kim, Gene, et al. </a:t>
            </a:r>
            <a:r>
              <a:rPr lang="en-US" i="1" dirty="0"/>
              <a:t>The DevOps Handbook: How to Create World-Class Agility, Reliability, &amp; Security in Technology Organizations</a:t>
            </a:r>
            <a:r>
              <a:rPr lang="en-US" dirty="0"/>
              <a:t>. 2nd ed., IT Revolution Press, 2021.</a:t>
            </a:r>
          </a:p>
          <a:p>
            <a:r>
              <a:rPr lang="en-US" dirty="0"/>
              <a:t>Google SRE Team. “Being On-Call.” </a:t>
            </a:r>
            <a:r>
              <a:rPr lang="en-US" i="1" dirty="0"/>
              <a:t>Site Reliability Engineering</a:t>
            </a:r>
            <a:r>
              <a:rPr lang="en-US" dirty="0"/>
              <a:t>, Google, </a:t>
            </a:r>
            <a:r>
              <a:rPr lang="en-US" dirty="0">
                <a:hlinkClick r:id="rId2"/>
              </a:rPr>
              <a:t>Google SRE - On Call Engineer Best Practices for IT Services</a:t>
            </a:r>
            <a:r>
              <a:rPr lang="en-US" dirty="0"/>
              <a:t>.</a:t>
            </a:r>
          </a:p>
          <a:p>
            <a:r>
              <a:rPr lang="en-US" dirty="0"/>
              <a:t>Atlassian. “Best Practices for On-Call Rotations.” </a:t>
            </a:r>
            <a:r>
              <a:rPr lang="en-US" i="1" dirty="0"/>
              <a:t>Atlassian Incident Management</a:t>
            </a:r>
            <a:r>
              <a:rPr lang="en-US" dirty="0"/>
              <a:t>, Atlassian, </a:t>
            </a:r>
            <a:r>
              <a:rPr lang="en-US" dirty="0">
                <a:hlinkClick r:id="rId3"/>
              </a:rPr>
              <a:t>https://www.atlassian.com/incident-management/on-call</a:t>
            </a:r>
            <a:r>
              <a:rPr lang="en-US" dirty="0"/>
              <a:t>. </a:t>
            </a:r>
          </a:p>
          <a:p>
            <a:r>
              <a:rPr lang="en-US" dirty="0"/>
              <a:t>PagerDuty. “On-Call Best Practices: Building Sustainable Rotations.” </a:t>
            </a:r>
            <a:r>
              <a:rPr lang="en-US" i="1" dirty="0"/>
              <a:t>PagerDuty Resources</a:t>
            </a:r>
            <a:r>
              <a:rPr lang="en-US" dirty="0"/>
              <a:t>, PagerDuty, </a:t>
            </a:r>
            <a:r>
              <a:rPr lang="en-US" dirty="0">
                <a:hlinkClick r:id="rId4"/>
              </a:rPr>
              <a:t>https://www.pagerduty.com/resources/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40</TotalTime>
  <Words>591</Words>
  <Application>Microsoft Office PowerPoint</Application>
  <PresentationFormat>On-screen Show (4:3)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Gill Sans MT</vt:lpstr>
      <vt:lpstr>Wingdings 2</vt:lpstr>
      <vt:lpstr>Dividend</vt:lpstr>
      <vt:lpstr>Pager Rotation Duties</vt:lpstr>
      <vt:lpstr>What are pager rotation duties?</vt:lpstr>
      <vt:lpstr>Core responsibilities </vt:lpstr>
      <vt:lpstr>Designing a healthy rotation</vt:lpstr>
      <vt:lpstr>Alert quality: reduce noise and prevent burnout</vt:lpstr>
      <vt:lpstr>Handoffs, documentation, and readiness</vt:lpstr>
      <vt:lpstr>Key metrics to manage and improve on-call</vt:lpstr>
      <vt:lpstr>Tools that support pager rotations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Natasha Foreman</dc:creator>
  <cp:keywords/>
  <dc:description>generated using python-pptx</dc:description>
  <cp:lastModifiedBy>Natasha Foreman</cp:lastModifiedBy>
  <cp:revision>3</cp:revision>
  <dcterms:created xsi:type="dcterms:W3CDTF">2013-01-27T09:14:16Z</dcterms:created>
  <dcterms:modified xsi:type="dcterms:W3CDTF">2026-02-09T03:48:49Z</dcterms:modified>
  <cp:category/>
</cp:coreProperties>
</file>