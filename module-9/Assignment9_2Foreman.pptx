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206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https://unsplash.com/s/photos/team-meeting (photo by Mapbox on Unsplash; image URL in search result)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https://psnet.ahrq.gov/primer/culture-safety
- https://psnet.ahrq.gov/perspective/making-just-culture-reality-one-organizations-approach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https://pubmed.ncbi.nlm.nih.gov/35588066/
- https://pmc.ncbi.nlm.nih.gov/articles/PMC9884909/
- https://psnet.ahrq.gov/primer/culture-safety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https://pmc.ncbi.nlm.nih.gov/articles/PMC9884909/
- https://pubmed.ncbi.nlm.nih.gov/35588066/
- https://www.sciencedirect.com/science/article/abs/pii/S0277953604004666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https://psnet.ahrq.gov/primer/culture-safety
- https://psnet.ahrq.gov/perspective/making-just-culture-reality-one-organizations-approach
- https://psnet.ahrq.gov/issue/patient-safety-and-just-culture-primer-health-care-executives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https://www.ihi.org/library/blog/trust-respect-and-inclusion-heart-safety-culture
- https://dev.ihi.org/sites/default/files/SalvonHarman_ActionstoRenewFocusonSafetyCulture_HCExec_May2023.pdf
- https://pubmed.ncbi.nlm.nih.gov/35588066/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https://dev.ihi.org/sites/default/files/SalvonHarman_ActionstoRenewFocusonSafetyCulture_HCExec_May2023.pdf
- https://psnet.ahrq.gov/perspective/making-just-culture-reality-one-organizations-approach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https://psnet.ahrq.gov/perspective/making-just-culture-reality-one-organizations-approach
- https://psnet.ahrq.gov/issue/patient-safety-and-just-culture-primer-health-care-executives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https://dev.ihi.org/sites/default/files/SalvonHarman_ActionstoRenewFocusonSafetyCulture_HCExec_May2023.pdf
- https://psnet.ahrq.gov/perspective/making-just-culture-reality-one-organizations-approach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URLs listed on slide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snet.ahrq.gov/primer/culture-safety?utm_source" TargetMode="External"/><Relationship Id="rId7" Type="http://schemas.openxmlformats.org/officeDocument/2006/relationships/hyperlink" Target="https://dev.ihi.org/sites/default/files/SalvonHarman_ActionstoRenewFocusonSafetyCulture_HCExec_May2023.pdf?utm_sourc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hi.org/library/blog/trust-respect-and-inclusion-heart-safety-culture?utm_source" TargetMode="External"/><Relationship Id="rId5" Type="http://schemas.openxmlformats.org/officeDocument/2006/relationships/hyperlink" Target="https://pubmed.ncbi.nlm.nih.gov/35588066/" TargetMode="External"/><Relationship Id="rId4" Type="http://schemas.openxmlformats.org/officeDocument/2006/relationships/hyperlink" Target="https://psnet.ahrq.gov/perspective/making-just-culture-reality-one-organizations-approach?utm_sour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am_meeting_unsplash.jpg"/>
          <p:cNvPicPr>
            <a:picLocks noChangeAspect="1"/>
          </p:cNvPicPr>
          <p:nvPr/>
        </p:nvPicPr>
        <p:blipFill>
          <a:blip r:embed="rId3"/>
          <a:srcRect t="2" b="2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85800" y="21488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Establishing a Just, Learning Culture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13232" y="29718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Barriers &amp; challenges to implementing a Just Culture</a:t>
            </a:r>
            <a:endParaRPr lang="en-US" sz="220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FC56567-51F5-FA63-7951-7E8DF6E333B5}"/>
              </a:ext>
            </a:extLst>
          </p:cNvPr>
          <p:cNvSpPr txBox="1">
            <a:spLocks/>
          </p:cNvSpPr>
          <p:nvPr/>
        </p:nvSpPr>
        <p:spPr>
          <a:xfrm>
            <a:off x="438150" y="5145513"/>
            <a:ext cx="2559050" cy="738820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500" dirty="0">
                <a:solidFill>
                  <a:srgbClr val="E8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CSD 380 – DevOps</a:t>
            </a:r>
          </a:p>
          <a:p>
            <a:pPr marL="0" indent="0">
              <a:buNone/>
            </a:pPr>
            <a:r>
              <a:rPr lang="en-US" sz="3500" dirty="0">
                <a:solidFill>
                  <a:srgbClr val="E8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Natasha Foreman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“Just Culture”?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 Just Culture aims to balance:</a:t>
            </a:r>
          </a:p>
          <a:p>
            <a:pPr marL="0" indent="0">
              <a:buNone/>
            </a:pPr>
            <a:endParaRPr lang="en-US" sz="2000" dirty="0">
              <a:latin typeface="Aptos" panose="020B0004020202020204" pitchFamily="34" charset="0"/>
              <a:ea typeface="Aptos" pitchFamily="34" charset="-122"/>
              <a:cs typeface="Aptos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A framework that balances accountability with learning.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Encourages reporting of errors.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Focuses on system improvement instead of blame.</a:t>
            </a:r>
          </a:p>
          <a:p>
            <a:pPr marL="0" indent="0">
              <a:buNone/>
            </a:pPr>
            <a:endParaRPr lang="en-US" sz="2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It supports a safety culture by shifting the focus from “who failed?” to “how did the system allow this, and what behaviors need coaching or accountability?”</a:t>
            </a:r>
            <a:endParaRPr lang="en-US" sz="2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barriers to implementing a Just Culture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Aptos" pitchFamily="34" charset="0"/>
                <a:ea typeface="Aptos" pitchFamily="34" charset="-122"/>
                <a:cs typeface="Aptos" pitchFamily="34" charset="-120"/>
              </a:rPr>
              <a:t>Implementation challenges tend to cluster into five areas: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611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109728" cy="14173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901952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Fear of blame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low psychological safety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1645920"/>
            <a:ext cx="3611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1645920"/>
            <a:ext cx="109728" cy="14173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901952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accountability rules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21040" y="1645920"/>
            <a:ext cx="3611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21040" y="1645920"/>
            <a:ext cx="109728" cy="1417320"/>
          </a:xfrm>
          <a:prstGeom prst="rect">
            <a:avLst/>
          </a:prstGeom>
          <a:solidFill>
            <a:srgbClr val="6C7A89"/>
          </a:solidFill>
          <a:ln w="12700">
            <a:solidFill>
              <a:srgbClr val="6C7A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49640" y="1901952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 trust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inconsistent leadership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3611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3291840"/>
            <a:ext cx="109728" cy="14173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3547872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Weak learning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26280" y="3291840"/>
            <a:ext cx="3611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26280" y="3291840"/>
            <a:ext cx="109728" cy="1417320"/>
          </a:xfrm>
          <a:prstGeom prst="rect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3547872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External pressures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Fear of blame &amp; psychological safety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54406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What it looks like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1673352"/>
            <a:ext cx="46177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Staff hesitate to report errors/near misses due to fear of punishment, shame, or being labeled “incompetent.”</a:t>
            </a:r>
            <a:endParaRPr lang="en-US" sz="1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Incident reviews feel like “who did it?” instead of “what set this up?”</a:t>
            </a:r>
            <a:endParaRPr lang="en-US" sz="1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People learn to stay quiet to protect themselves and their peers.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960120"/>
            <a:ext cx="523951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83680" y="1188720"/>
            <a:ext cx="4599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Why it blocks Just Culture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675120" y="1673352"/>
            <a:ext cx="4416552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Low reporting = low visibility into system risks.</a:t>
            </a:r>
            <a:endParaRPr lang="en-US" sz="1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Without trust, coaching and accountability conversations are interpreted as blame.</a:t>
            </a:r>
            <a:endParaRPr lang="en-US" sz="1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 “blame culture” can normalize fear and secrecy during investigations.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Confusing accountability &amp; inconsistent decisions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21031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failure modes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587752"/>
            <a:ext cx="101498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“Just Culture” is misinterpreted as “no consequences ever.”</a:t>
            </a:r>
            <a:endParaRPr lang="en-US" sz="1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Managers lack a shared decision guide for differentiating human error vs. at-risk vs. reckless behavior.</a:t>
            </a:r>
            <a:endParaRPr lang="en-US" sz="1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Discipline feels unpredictable (different outcomes for similar events, or influenced by seniority).</a:t>
            </a:r>
            <a:endParaRPr lang="en-US" sz="1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Policies focus only on “systems” or only on “people,” rather than integrating both.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Leadership &amp; trust gaps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960120"/>
            <a:ext cx="54864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Where it shows up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1673352"/>
            <a:ext cx="466344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Leaders say “report issues,” but responses feel punitive or defensive.</a:t>
            </a:r>
            <a:endParaRPr lang="en-US" sz="1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Change fatigue: initiatives come and go, so staff wait it out.</a:t>
            </a:r>
            <a:endParaRPr lang="en-US" sz="1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Frontline staff don’t see follow-through or feedback after reporting.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0" y="960120"/>
            <a:ext cx="530352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20840" y="11887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12280" y="1673352"/>
            <a:ext cx="448056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Culture is reinforced by consistent leader actions, not slogans.</a:t>
            </a:r>
            <a:endParaRPr lang="en-US" sz="1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Trust and inclusion are prerequisites for speaking up and learning.</a:t>
            </a:r>
            <a:endParaRPr lang="en-US" sz="1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Without visible support, reporting and improvement stall.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Weak learning infrastructure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143000"/>
            <a:ext cx="10972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560" y="1920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Common infrastructure gaps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2404872"/>
            <a:ext cx="101498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Reporting systems exist, but feedback loops are slow or absent.</a:t>
            </a:r>
            <a:endParaRPr lang="en-US" sz="1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Training is one-and-done: limited coaching, practice, or simulation.</a:t>
            </a:r>
            <a:endParaRPr lang="en-US" sz="1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Event reviews focus on compliance paperwork rather than learning.</a:t>
            </a:r>
            <a:endParaRPr lang="en-US" sz="1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No clear metrics for “steady-state” safety outcomes or culture signals.</a:t>
            </a:r>
            <a:endParaRPr lang="en-US" sz="1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Insufficient time and staffing for improvement work.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External pressures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960120"/>
            <a:ext cx="109728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How external pressures show up internally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1673352"/>
            <a:ext cx="1014984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Fear that transparency will increase liability or reputational harm.</a:t>
            </a:r>
            <a:endParaRPr lang="en-US" sz="1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Regulatory/disciplinary environments can push leaders toward “punish to prove action.”</a:t>
            </a:r>
            <a:endParaRPr lang="en-US" sz="1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Mixed signals from unions, licensing boards, or HR policies about consequences.</a:t>
            </a:r>
            <a:endParaRPr lang="en-US" sz="1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High-profile events create pressure for quick blame rather than careful learning.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Turning barriers into a learning culture 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539496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F3B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Barriers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51560" y="1783080"/>
            <a:ext cx="4754880" cy="640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51560" y="1783080"/>
            <a:ext cx="109728" cy="64008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34440" y="19476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Fear of blame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51560" y="2560320"/>
            <a:ext cx="4754880" cy="640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51560" y="2560320"/>
            <a:ext cx="109728" cy="6400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34440" y="27249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Unclear accountability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51560" y="3337560"/>
            <a:ext cx="4754880" cy="640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51560" y="3337560"/>
            <a:ext cx="109728" cy="640080"/>
          </a:xfrm>
          <a:prstGeom prst="rect">
            <a:avLst/>
          </a:prstGeom>
          <a:solidFill>
            <a:srgbClr val="6C7A89"/>
          </a:solidFill>
          <a:ln w="12700">
            <a:solidFill>
              <a:srgbClr val="6C7A89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34440" y="35021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Low trust in leaders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51560" y="4114800"/>
            <a:ext cx="4754880" cy="640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51560" y="4114800"/>
            <a:ext cx="109728" cy="6400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34440" y="427939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Weak learning loop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51560" y="4892040"/>
            <a:ext cx="4754880" cy="640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51560" y="4892040"/>
            <a:ext cx="109728" cy="640080"/>
          </a:xfrm>
          <a:prstGeom prst="rect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34440" y="50566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External pressure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55080" y="3246120"/>
            <a:ext cx="1051560" cy="640080"/>
          </a:xfrm>
          <a:prstGeom prst="rightArrow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543800" y="1097280"/>
            <a:ext cx="3913632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863840" y="1234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F3B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Enablers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818120" y="1783080"/>
            <a:ext cx="35204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 consistent review process</a:t>
            </a:r>
            <a:endParaRPr lang="en-US" sz="2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Coaching + practice, not just training</a:t>
            </a:r>
            <a:endParaRPr lang="en-US" sz="24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Fast feedback to reporters
Leaders model openness
Policies aligned with Just Culture</a:t>
            </a:r>
            <a:endParaRPr lang="en-US" sz="24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 Cited: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601968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sources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133856"/>
            <a:ext cx="110642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Agency for Healthcare Research and Quality. </a:t>
            </a:r>
            <a:r>
              <a:rPr lang="en-US" i="1" dirty="0"/>
              <a:t>Culture of Safety Primer</a:t>
            </a:r>
            <a:r>
              <a:rPr lang="en-US" dirty="0"/>
              <a:t>. </a:t>
            </a:r>
            <a:r>
              <a:rPr lang="en-US" dirty="0" err="1"/>
              <a:t>PSNet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https://psnet.ahrq.gov/primer/culture-safety?utm_source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Agency for Healthcare Research and Quality. </a:t>
            </a:r>
            <a:r>
              <a:rPr lang="en-US" i="1" dirty="0"/>
              <a:t>Making Just Culture a Reality: One Organization’s Approach</a:t>
            </a:r>
            <a:r>
              <a:rPr lang="en-US" dirty="0"/>
              <a:t>. </a:t>
            </a:r>
            <a:r>
              <a:rPr lang="en-US" dirty="0" err="1"/>
              <a:t>PSNet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Making Just Culture a Reality: One Organization's Approach | </a:t>
            </a:r>
            <a:r>
              <a:rPr lang="en-US" dirty="0" err="1">
                <a:hlinkClick r:id="rId4"/>
              </a:rPr>
              <a:t>PSNet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Khatri, Naresh, et al. “Barriers to Reporting Medical Errors and Near Misses.” </a:t>
            </a:r>
            <a:r>
              <a:rPr lang="en-US" i="1" dirty="0"/>
              <a:t>Journal of Patient Safety</a:t>
            </a:r>
            <a:r>
              <a:rPr lang="en-US" dirty="0"/>
              <a:t>, PubMed, </a:t>
            </a:r>
            <a:r>
              <a:rPr lang="en-US" dirty="0">
                <a:hlinkClick r:id="rId5"/>
              </a:rPr>
              <a:t>https://pubmed.ncbi.nlm.nih.gov/35588066/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Institute for Healthcare Improvement. </a:t>
            </a:r>
            <a:r>
              <a:rPr lang="en-US" i="1" dirty="0"/>
              <a:t>Trust, Respect, and Inclusion: The Heart of Safety Culture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Trust, Respect, and Inclusion: The Heart of Safety Culture | Institute for Healthcare Improvement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Salvon</a:t>
            </a:r>
            <a:r>
              <a:rPr lang="en-US" dirty="0"/>
              <a:t>-Harman, Joanne. </a:t>
            </a:r>
            <a:r>
              <a:rPr lang="en-US" i="1" dirty="0"/>
              <a:t>Actions to Renew Focus on Safety Culture</a:t>
            </a:r>
            <a:r>
              <a:rPr lang="en-US" dirty="0"/>
              <a:t>. Institute for Healthcare Improvement, May 2023, </a:t>
            </a:r>
            <a:r>
              <a:rPr lang="en-US" dirty="0">
                <a:hlinkClick r:id="rId7"/>
              </a:rPr>
              <a:t>SalvonHarman_ActionstoRenewFocusonSafetyCulture_HCExec_May2023.pdf</a:t>
            </a:r>
            <a:r>
              <a:rPr lang="en-US" dirty="0"/>
              <a:t> 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1143</Words>
  <Application>Microsoft Office PowerPoint</Application>
  <PresentationFormat>Widescreen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Establishing a Just, Learning Culture — Barriers to Implementing a Just Culture</dc:title>
  <dc:subject>PptxGenJS Presentation</dc:subject>
  <dc:creator>CSD 402</dc:creator>
  <cp:lastModifiedBy>Natasha Foreman</cp:lastModifiedBy>
  <cp:revision>2</cp:revision>
  <dcterms:created xsi:type="dcterms:W3CDTF">2026-02-16T01:43:00Z</dcterms:created>
  <dcterms:modified xsi:type="dcterms:W3CDTF">2026-02-16T02:15:21Z</dcterms:modified>
</cp:coreProperties>
</file>